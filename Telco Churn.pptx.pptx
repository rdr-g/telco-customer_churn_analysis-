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mo Bold" charset="1" panose="020B0704020202020204"/>
      <p:regular r:id="rId29"/>
    </p:embeddedFont>
    <p:embeddedFont>
      <p:font typeface="Calibri (MS)" charset="1" panose="020F0502020204030204"/>
      <p:regular r:id="rId30"/>
    </p:embeddedFont>
    <p:embeddedFont>
      <p:font typeface="Calibri (MS) Bold" charset="1" panose="020F070203040403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1581120"/>
            <a:ext cx="14972400" cy="4037760"/>
            <a:chOff x="0" y="0"/>
            <a:chExt cx="19963200" cy="5383680"/>
          </a:xfrm>
        </p:grpSpPr>
        <p:sp>
          <p:nvSpPr>
            <p:cNvPr name="Freeform 12" id="12"/>
            <p:cNvSpPr/>
            <p:nvPr/>
          </p:nvSpPr>
          <p:spPr>
            <a:xfrm flipH="false" flipV="false" rot="0">
              <a:off x="0" y="0"/>
              <a:ext cx="19963200" cy="5383680"/>
            </a:xfrm>
            <a:custGeom>
              <a:avLst/>
              <a:gdLst/>
              <a:ahLst/>
              <a:cxnLst/>
              <a:rect r="r" b="b" t="t" l="l"/>
              <a:pathLst>
                <a:path h="5383680" w="19963200">
                  <a:moveTo>
                    <a:pt x="0" y="0"/>
                  </a:moveTo>
                  <a:lnTo>
                    <a:pt x="19963200" y="0"/>
                  </a:lnTo>
                  <a:lnTo>
                    <a:pt x="19963200" y="5383680"/>
                  </a:lnTo>
                  <a:lnTo>
                    <a:pt x="0" y="5383680"/>
                  </a:lnTo>
                  <a:close/>
                </a:path>
              </a:pathLst>
            </a:custGeom>
            <a:solidFill>
              <a:srgbClr val="000000">
                <a:alpha val="0"/>
              </a:srgbClr>
            </a:solidFill>
          </p:spPr>
        </p:sp>
        <p:sp>
          <p:nvSpPr>
            <p:cNvPr name="TextBox 13" id="13"/>
            <p:cNvSpPr txBox="true"/>
            <p:nvPr/>
          </p:nvSpPr>
          <p:spPr>
            <a:xfrm>
              <a:off x="0" y="-266700"/>
              <a:ext cx="19963200" cy="5650380"/>
            </a:xfrm>
            <a:prstGeom prst="rect">
              <a:avLst/>
            </a:prstGeom>
          </p:spPr>
          <p:txBody>
            <a:bodyPr anchor="b" rtlCol="false" tIns="0" lIns="0" bIns="0" rIns="0"/>
            <a:lstStyle/>
            <a:p>
              <a:pPr algn="ctr">
                <a:lnSpc>
                  <a:spcPts val="14544"/>
                </a:lnSpc>
              </a:pPr>
              <a:r>
                <a:rPr lang="en-US" sz="10100" b="true">
                  <a:solidFill>
                    <a:srgbClr val="FFFFFF"/>
                  </a:solidFill>
                  <a:latin typeface="Arimo Bold"/>
                  <a:ea typeface="Arimo Bold"/>
                  <a:cs typeface="Arimo Bold"/>
                  <a:sym typeface="Arimo Bold"/>
                </a:rPr>
                <a:t>Telco Churn Prediction</a:t>
              </a:r>
            </a:p>
          </p:txBody>
        </p:sp>
      </p:grpSp>
      <p:sp>
        <p:nvSpPr>
          <p:cNvPr name="TextBox 14" id="14"/>
          <p:cNvSpPr txBox="true"/>
          <p:nvPr/>
        </p:nvSpPr>
        <p:spPr>
          <a:xfrm rot="0">
            <a:off x="2732010" y="5675445"/>
            <a:ext cx="12841530" cy="600837"/>
          </a:xfrm>
          <a:prstGeom prst="rect">
            <a:avLst/>
          </a:prstGeom>
        </p:spPr>
        <p:txBody>
          <a:bodyPr anchor="t" rtlCol="false" tIns="0" lIns="0" bIns="0" rIns="0">
            <a:spAutoFit/>
          </a:bodyPr>
          <a:lstStyle/>
          <a:p>
            <a:pPr algn="ctr">
              <a:lnSpc>
                <a:spcPts val="4463"/>
              </a:lnSpc>
            </a:pPr>
            <a:r>
              <a:rPr lang="en-US" sz="3099">
                <a:solidFill>
                  <a:srgbClr val="FFFFFF"/>
                </a:solidFill>
                <a:latin typeface="Calibri (MS)"/>
                <a:ea typeface="Calibri (MS)"/>
                <a:cs typeface="Calibri (MS)"/>
                <a:sym typeface="Calibri (MS)"/>
              </a:rPr>
              <a:t>“Telco Customer Churn — Predict &amp; prioritize at-risk customers for retention”</a:t>
            </a:r>
          </a:p>
        </p:txBody>
      </p:sp>
      <p:sp>
        <p:nvSpPr>
          <p:cNvPr name="Freeform 15" id="15"/>
          <p:cNvSpPr/>
          <p:nvPr/>
        </p:nvSpPr>
        <p:spPr>
          <a:xfrm flipH="false" flipV="false" rot="0">
            <a:off x="7579830" y="781887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93030" y="13266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7" id="17"/>
          <p:cNvSpPr/>
          <p:nvPr/>
        </p:nvSpPr>
        <p:spPr>
          <a:xfrm rot="1850321">
            <a:off x="14434625" y="8179395"/>
            <a:ext cx="2790590" cy="0"/>
          </a:xfrm>
          <a:prstGeom prst="line">
            <a:avLst/>
          </a:prstGeom>
          <a:ln cap="rnd" w="28575">
            <a:solidFill>
              <a:srgbClr val="7E4FCF"/>
            </a:solidFill>
            <a:prstDash val="solid"/>
            <a:headEnd type="none" len="sm" w="sm"/>
            <a:tailEnd type="none" len="sm" w="sm"/>
          </a:ln>
        </p:spPr>
      </p:sp>
      <p:sp>
        <p:nvSpPr>
          <p:cNvPr name="AutoShape 18" id="18"/>
          <p:cNvSpPr/>
          <p:nvPr/>
        </p:nvSpPr>
        <p:spPr>
          <a:xfrm rot="4225941">
            <a:off x="14346203" y="7918755"/>
            <a:ext cx="917594" cy="0"/>
          </a:xfrm>
          <a:prstGeom prst="line">
            <a:avLst/>
          </a:prstGeom>
          <a:ln cap="rnd" w="28575">
            <a:solidFill>
              <a:srgbClr val="7E4FCF"/>
            </a:solidFill>
            <a:prstDash val="solid"/>
            <a:headEnd type="none" len="sm" w="sm"/>
            <a:tailEnd type="none" len="sm" w="sm"/>
          </a:ln>
        </p:spPr>
      </p:sp>
      <p:sp>
        <p:nvSpPr>
          <p:cNvPr name="AutoShape 19" id="19"/>
          <p:cNvSpPr/>
          <p:nvPr/>
        </p:nvSpPr>
        <p:spPr>
          <a:xfrm rot="-1140768">
            <a:off x="14636586" y="7388475"/>
            <a:ext cx="963228" cy="0"/>
          </a:xfrm>
          <a:prstGeom prst="line">
            <a:avLst/>
          </a:prstGeom>
          <a:ln cap="rnd" w="28575">
            <a:solidFill>
              <a:srgbClr val="7E4FC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2409200" y="37440"/>
            <a:ext cx="5878080" cy="10286640"/>
            <a:chOff x="0" y="0"/>
            <a:chExt cx="7837440" cy="13715520"/>
          </a:xfrm>
        </p:grpSpPr>
        <p:sp>
          <p:nvSpPr>
            <p:cNvPr name="Freeform 3" id="3"/>
            <p:cNvSpPr/>
            <p:nvPr/>
          </p:nvSpPr>
          <p:spPr>
            <a:xfrm flipH="true" flipV="false" rot="0">
              <a:off x="0" y="0"/>
              <a:ext cx="7837424" cy="13715492"/>
            </a:xfrm>
            <a:custGeom>
              <a:avLst/>
              <a:gdLst/>
              <a:ahLst/>
              <a:cxnLst/>
              <a:rect r="r" b="b" t="t" l="l"/>
              <a:pathLst>
                <a:path h="13715492" w="7837424">
                  <a:moveTo>
                    <a:pt x="7837424" y="0"/>
                  </a:moveTo>
                  <a:lnTo>
                    <a:pt x="0" y="0"/>
                  </a:lnTo>
                  <a:lnTo>
                    <a:pt x="0" y="13715492"/>
                  </a:lnTo>
                  <a:lnTo>
                    <a:pt x="7837424" y="13715492"/>
                  </a:lnTo>
                  <a:lnTo>
                    <a:pt x="7837424" y="0"/>
                  </a:lnTo>
                  <a:close/>
                </a:path>
              </a:pathLst>
            </a:custGeom>
            <a:blipFill>
              <a:blip r:embed="rId2"/>
              <a:stretch>
                <a:fillRect l="-20897" t="-18398" r="-353066" b="-23338"/>
              </a:stretch>
            </a:blipFill>
          </p:spPr>
        </p:sp>
      </p:grpSp>
      <p:grpSp>
        <p:nvGrpSpPr>
          <p:cNvPr name="Group 4" id="4"/>
          <p:cNvGrpSpPr>
            <a:grpSpLocks noChangeAspect="true"/>
          </p:cNvGrpSpPr>
          <p:nvPr/>
        </p:nvGrpSpPr>
        <p:grpSpPr>
          <a:xfrm rot="-10800000">
            <a:off x="9822240" y="4837680"/>
            <a:ext cx="8465040" cy="5485680"/>
            <a:chOff x="0" y="0"/>
            <a:chExt cx="11286720" cy="7314240"/>
          </a:xfrm>
        </p:grpSpPr>
        <p:sp>
          <p:nvSpPr>
            <p:cNvPr name="Freeform 5" id="5"/>
            <p:cNvSpPr/>
            <p:nvPr/>
          </p:nvSpPr>
          <p:spPr>
            <a:xfrm flipH="true" flipV="false" rot="0">
              <a:off x="0" y="0"/>
              <a:ext cx="11286744" cy="7314184"/>
            </a:xfrm>
            <a:custGeom>
              <a:avLst/>
              <a:gdLst/>
              <a:ahLst/>
              <a:cxnLst/>
              <a:rect r="r" b="b" t="t" l="l"/>
              <a:pathLst>
                <a:path h="7314184" w="11286744">
                  <a:moveTo>
                    <a:pt x="11286744" y="0"/>
                  </a:moveTo>
                  <a:lnTo>
                    <a:pt x="0" y="0"/>
                  </a:lnTo>
                  <a:lnTo>
                    <a:pt x="0" y="7314184"/>
                  </a:lnTo>
                  <a:lnTo>
                    <a:pt x="11286744" y="7314184"/>
                  </a:lnTo>
                  <a:lnTo>
                    <a:pt x="11286744" y="0"/>
                  </a:lnTo>
                  <a:close/>
                </a:path>
              </a:pathLst>
            </a:custGeom>
            <a:blipFill>
              <a:blip r:embed="rId3"/>
              <a:stretch>
                <a:fillRect l="-77840" t="-136585" r="-129901" b="-11937"/>
              </a:stretch>
            </a:blipFill>
          </p:spPr>
        </p:sp>
      </p:grpSp>
      <p:grpSp>
        <p:nvGrpSpPr>
          <p:cNvPr name="Group 6" id="6"/>
          <p:cNvGrpSpPr>
            <a:grpSpLocks noChangeAspect="true"/>
          </p:cNvGrpSpPr>
          <p:nvPr/>
        </p:nvGrpSpPr>
        <p:grpSpPr>
          <a:xfrm rot="-10800000">
            <a:off x="0" y="37440"/>
            <a:ext cx="8875440" cy="4667040"/>
            <a:chOff x="0" y="0"/>
            <a:chExt cx="11833920" cy="6222720"/>
          </a:xfrm>
        </p:grpSpPr>
        <p:sp>
          <p:nvSpPr>
            <p:cNvPr name="Freeform 7" id="7"/>
            <p:cNvSpPr/>
            <p:nvPr/>
          </p:nvSpPr>
          <p:spPr>
            <a:xfrm flipH="true" flipV="false" rot="0">
              <a:off x="0" y="0"/>
              <a:ext cx="11833860" cy="6222746"/>
            </a:xfrm>
            <a:custGeom>
              <a:avLst/>
              <a:gdLst/>
              <a:ahLst/>
              <a:cxnLst/>
              <a:rect r="r" b="b" t="t" l="l"/>
              <a:pathLst>
                <a:path h="6222746" w="11833860">
                  <a:moveTo>
                    <a:pt x="11833860" y="0"/>
                  </a:moveTo>
                  <a:lnTo>
                    <a:pt x="0" y="0"/>
                  </a:lnTo>
                  <a:lnTo>
                    <a:pt x="0" y="6222746"/>
                  </a:lnTo>
                  <a:lnTo>
                    <a:pt x="11833860" y="6222746"/>
                  </a:lnTo>
                  <a:lnTo>
                    <a:pt x="11833860" y="0"/>
                  </a:lnTo>
                  <a:close/>
                </a:path>
              </a:pathLst>
            </a:custGeom>
            <a:blipFill>
              <a:blip r:embed="rId3"/>
              <a:stretch>
                <a:fillRect l="-63702" t="13050" r="-67363" b="-143013"/>
              </a:stretch>
            </a:blipFill>
          </p:spPr>
        </p:sp>
      </p:grpSp>
      <p:grpSp>
        <p:nvGrpSpPr>
          <p:cNvPr name="Group 8" id="8"/>
          <p:cNvGrpSpPr>
            <a:grpSpLocks noChangeAspect="true"/>
          </p:cNvGrpSpPr>
          <p:nvPr/>
        </p:nvGrpSpPr>
        <p:grpSpPr>
          <a:xfrm rot="0">
            <a:off x="720" y="0"/>
            <a:ext cx="5878080" cy="8287920"/>
            <a:chOff x="0" y="0"/>
            <a:chExt cx="7837440" cy="11050560"/>
          </a:xfrm>
        </p:grpSpPr>
        <p:sp>
          <p:nvSpPr>
            <p:cNvPr name="Freeform 9" id="9"/>
            <p:cNvSpPr/>
            <p:nvPr/>
          </p:nvSpPr>
          <p:spPr>
            <a:xfrm flipH="true" flipV="false" rot="0">
              <a:off x="0" y="0"/>
              <a:ext cx="7837424" cy="11050524"/>
            </a:xfrm>
            <a:custGeom>
              <a:avLst/>
              <a:gdLst/>
              <a:ahLst/>
              <a:cxnLst/>
              <a:rect r="r" b="b" t="t" l="l"/>
              <a:pathLst>
                <a:path h="11050524" w="7837424">
                  <a:moveTo>
                    <a:pt x="7837424" y="0"/>
                  </a:moveTo>
                  <a:lnTo>
                    <a:pt x="0" y="0"/>
                  </a:lnTo>
                  <a:lnTo>
                    <a:pt x="0" y="11050524"/>
                  </a:lnTo>
                  <a:lnTo>
                    <a:pt x="7837424" y="11050524"/>
                  </a:lnTo>
                  <a:lnTo>
                    <a:pt x="7837424" y="0"/>
                  </a:lnTo>
                  <a:close/>
                </a:path>
              </a:pathLst>
            </a:custGeom>
            <a:blipFill>
              <a:blip r:embed="rId2"/>
              <a:stretch>
                <a:fillRect l="11015" t="-36386" r="-329866" b="-19077"/>
              </a:stretch>
            </a:blipFill>
          </p:spPr>
        </p:sp>
      </p:grpSp>
      <p:sp>
        <p:nvSpPr>
          <p:cNvPr name="Freeform 10" id="10"/>
          <p:cNvSpPr/>
          <p:nvPr/>
        </p:nvSpPr>
        <p:spPr>
          <a:xfrm flipH="false" flipV="false" rot="0">
            <a:off x="-3247200" y="-586245"/>
            <a:ext cx="20597205" cy="10517925"/>
          </a:xfrm>
          <a:custGeom>
            <a:avLst/>
            <a:gdLst/>
            <a:ahLst/>
            <a:cxnLst/>
            <a:rect r="r" b="b" t="t" l="l"/>
            <a:pathLst>
              <a:path h="10517925" w="20597205">
                <a:moveTo>
                  <a:pt x="0" y="0"/>
                </a:moveTo>
                <a:lnTo>
                  <a:pt x="20597205" y="0"/>
                </a:lnTo>
                <a:lnTo>
                  <a:pt x="20597205" y="10517925"/>
                </a:lnTo>
                <a:lnTo>
                  <a:pt x="0" y="105179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352960" y="562325"/>
            <a:ext cx="13582080" cy="2913840"/>
            <a:chOff x="0" y="0"/>
            <a:chExt cx="18109440" cy="3885120"/>
          </a:xfrm>
        </p:grpSpPr>
        <p:sp>
          <p:nvSpPr>
            <p:cNvPr name="Freeform 12" id="12"/>
            <p:cNvSpPr/>
            <p:nvPr/>
          </p:nvSpPr>
          <p:spPr>
            <a:xfrm flipH="false" flipV="false" rot="0">
              <a:off x="0" y="0"/>
              <a:ext cx="18109440" cy="3885120"/>
            </a:xfrm>
            <a:custGeom>
              <a:avLst/>
              <a:gdLst/>
              <a:ahLst/>
              <a:cxnLst/>
              <a:rect r="r" b="b" t="t" l="l"/>
              <a:pathLst>
                <a:path h="3885120" w="18109440">
                  <a:moveTo>
                    <a:pt x="0" y="0"/>
                  </a:moveTo>
                  <a:lnTo>
                    <a:pt x="18109440" y="0"/>
                  </a:lnTo>
                  <a:lnTo>
                    <a:pt x="18109440" y="3885120"/>
                  </a:lnTo>
                  <a:lnTo>
                    <a:pt x="0" y="3885120"/>
                  </a:lnTo>
                  <a:close/>
                </a:path>
              </a:pathLst>
            </a:custGeom>
            <a:solidFill>
              <a:srgbClr val="000000">
                <a:alpha val="0"/>
              </a:srgbClr>
            </a:solidFill>
          </p:spPr>
        </p:sp>
        <p:sp>
          <p:nvSpPr>
            <p:cNvPr name="TextBox 13" id="13"/>
            <p:cNvSpPr txBox="true"/>
            <p:nvPr/>
          </p:nvSpPr>
          <p:spPr>
            <a:xfrm>
              <a:off x="0" y="-428625"/>
              <a:ext cx="18109440" cy="4313745"/>
            </a:xfrm>
            <a:prstGeom prst="rect">
              <a:avLst/>
            </a:prstGeom>
          </p:spPr>
          <p:txBody>
            <a:bodyPr anchor="b" rtlCol="false" tIns="0" lIns="0" bIns="0" rIns="0"/>
            <a:lstStyle/>
            <a:p>
              <a:pPr algn="ctr">
                <a:lnSpc>
                  <a:spcPts val="14399"/>
                </a:lnSpc>
              </a:pPr>
              <a:r>
                <a:rPr lang="en-US" sz="9999" b="true">
                  <a:solidFill>
                    <a:srgbClr val="FFFFFF"/>
                  </a:solidFill>
                  <a:latin typeface="Calibri (MS) Bold"/>
                  <a:ea typeface="Calibri (MS) Bold"/>
                  <a:cs typeface="Calibri (MS) Bold"/>
                  <a:sym typeface="Calibri (MS) Bold"/>
                </a:rPr>
                <a:t>Introduction</a:t>
              </a:r>
            </a:p>
          </p:txBody>
        </p:sp>
      </p:grpSp>
      <p:sp>
        <p:nvSpPr>
          <p:cNvPr name="TextBox 14" id="14"/>
          <p:cNvSpPr txBox="true"/>
          <p:nvPr/>
        </p:nvSpPr>
        <p:spPr>
          <a:xfrm rot="0">
            <a:off x="2444400" y="3528785"/>
            <a:ext cx="13399200" cy="4761580"/>
          </a:xfrm>
          <a:prstGeom prst="rect">
            <a:avLst/>
          </a:prstGeom>
        </p:spPr>
        <p:txBody>
          <a:bodyPr anchor="t" rtlCol="false" tIns="0" lIns="0" bIns="0" rIns="0">
            <a:spAutoFit/>
          </a:bodyPr>
          <a:lstStyle/>
          <a:p>
            <a:pPr algn="ctr">
              <a:lnSpc>
                <a:spcPts val="4147"/>
              </a:lnSpc>
            </a:pPr>
            <a:r>
              <a:rPr lang="en-US" sz="3200">
                <a:solidFill>
                  <a:srgbClr val="FFFFFF"/>
                </a:solidFill>
                <a:latin typeface="Calibri (MS)"/>
                <a:ea typeface="Calibri (MS)"/>
                <a:cs typeface="Calibri (MS)"/>
                <a:sym typeface="Calibri (MS)"/>
              </a:rPr>
              <a:t>Customer churn—when subscribers stop using a service—represents a significant and recurring revenue leak for telecom operators. Acquiring a new customer typically costs several times more than retaining an existing one, so targeted retention is a high-ROI lever. This project uses the Kaggle Telco Customer Churn dataset (commonly ~7,000 customers with ~20–25 attributes) containing demographic, service-subscription and billing/payment information to build an interpretable churn-prediction model. The objective is to identify high-risk customers and deliver actionable recommendations that enable timely, cost-effective retention campaigns.</a:t>
            </a:r>
          </a:p>
        </p:txBody>
      </p:sp>
      <p:sp>
        <p:nvSpPr>
          <p:cNvPr name="Freeform 15" id="15"/>
          <p:cNvSpPr/>
          <p:nvPr/>
        </p:nvSpPr>
        <p:spPr>
          <a:xfrm flipH="false" flipV="false" rot="0">
            <a:off x="7579830" y="888897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829590" y="805935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7" id="17"/>
          <p:cNvSpPr/>
          <p:nvPr/>
        </p:nvSpPr>
        <p:spPr>
          <a:xfrm rot="-8948462">
            <a:off x="396549" y="1625595"/>
            <a:ext cx="2790342" cy="0"/>
          </a:xfrm>
          <a:prstGeom prst="line">
            <a:avLst/>
          </a:prstGeom>
          <a:ln cap="rnd" w="28575">
            <a:solidFill>
              <a:srgbClr val="7E4FCF"/>
            </a:solidFill>
            <a:prstDash val="solid"/>
            <a:headEnd type="none" len="sm" w="sm"/>
            <a:tailEnd type="none" len="sm" w="sm"/>
          </a:ln>
        </p:spPr>
      </p:sp>
      <p:sp>
        <p:nvSpPr>
          <p:cNvPr name="AutoShape 18" id="18"/>
          <p:cNvSpPr/>
          <p:nvPr/>
        </p:nvSpPr>
        <p:spPr>
          <a:xfrm rot="-6574058">
            <a:off x="2357483" y="1885875"/>
            <a:ext cx="917594" cy="0"/>
          </a:xfrm>
          <a:prstGeom prst="line">
            <a:avLst/>
          </a:prstGeom>
          <a:ln cap="rnd" w="28575">
            <a:solidFill>
              <a:srgbClr val="7E4FCF"/>
            </a:solidFill>
            <a:prstDash val="solid"/>
            <a:headEnd type="none" len="sm" w="sm"/>
            <a:tailEnd type="none" len="sm" w="sm"/>
          </a:ln>
        </p:spPr>
      </p:sp>
      <p:sp>
        <p:nvSpPr>
          <p:cNvPr name="AutoShape 19" id="19"/>
          <p:cNvSpPr/>
          <p:nvPr/>
        </p:nvSpPr>
        <p:spPr>
          <a:xfrm rot="9660068">
            <a:off x="2021486" y="2416155"/>
            <a:ext cx="963909" cy="0"/>
          </a:xfrm>
          <a:prstGeom prst="line">
            <a:avLst/>
          </a:prstGeom>
          <a:ln cap="rnd" w="28575">
            <a:solidFill>
              <a:srgbClr val="7E4FCF"/>
            </a:solidFill>
            <a:prstDash val="solid"/>
            <a:headEnd type="none" len="sm" w="sm"/>
            <a:tailEnd type="none" len="sm" w="sm"/>
          </a:ln>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2428250" y="37440"/>
            <a:ext cx="5878080" cy="10286640"/>
            <a:chOff x="0" y="0"/>
            <a:chExt cx="7837440" cy="13715520"/>
          </a:xfrm>
        </p:grpSpPr>
        <p:sp>
          <p:nvSpPr>
            <p:cNvPr name="Freeform 3" id="3"/>
            <p:cNvSpPr/>
            <p:nvPr/>
          </p:nvSpPr>
          <p:spPr>
            <a:xfrm flipH="true" flipV="false" rot="0">
              <a:off x="0" y="0"/>
              <a:ext cx="7837424" cy="13715492"/>
            </a:xfrm>
            <a:custGeom>
              <a:avLst/>
              <a:gdLst/>
              <a:ahLst/>
              <a:cxnLst/>
              <a:rect r="r" b="b" t="t" l="l"/>
              <a:pathLst>
                <a:path h="13715492" w="7837424">
                  <a:moveTo>
                    <a:pt x="7837424" y="0"/>
                  </a:moveTo>
                  <a:lnTo>
                    <a:pt x="0" y="0"/>
                  </a:lnTo>
                  <a:lnTo>
                    <a:pt x="0" y="13715492"/>
                  </a:lnTo>
                  <a:lnTo>
                    <a:pt x="7837424" y="13715492"/>
                  </a:lnTo>
                  <a:lnTo>
                    <a:pt x="7837424" y="0"/>
                  </a:lnTo>
                  <a:close/>
                </a:path>
              </a:pathLst>
            </a:custGeom>
            <a:blipFill>
              <a:blip r:embed="rId2"/>
              <a:stretch>
                <a:fillRect l="-20897" t="-18398" r="-353066" b="-23338"/>
              </a:stretch>
            </a:blipFill>
          </p:spPr>
        </p:sp>
      </p:grpSp>
      <p:grpSp>
        <p:nvGrpSpPr>
          <p:cNvPr name="Group 4" id="4"/>
          <p:cNvGrpSpPr>
            <a:grpSpLocks noChangeAspect="true"/>
          </p:cNvGrpSpPr>
          <p:nvPr/>
        </p:nvGrpSpPr>
        <p:grpSpPr>
          <a:xfrm rot="-10800000">
            <a:off x="9822240" y="4837680"/>
            <a:ext cx="8465040" cy="5485680"/>
            <a:chOff x="0" y="0"/>
            <a:chExt cx="11286720" cy="7314240"/>
          </a:xfrm>
        </p:grpSpPr>
        <p:sp>
          <p:nvSpPr>
            <p:cNvPr name="Freeform 5" id="5"/>
            <p:cNvSpPr/>
            <p:nvPr/>
          </p:nvSpPr>
          <p:spPr>
            <a:xfrm flipH="true" flipV="false" rot="0">
              <a:off x="0" y="0"/>
              <a:ext cx="11286744" cy="7314184"/>
            </a:xfrm>
            <a:custGeom>
              <a:avLst/>
              <a:gdLst/>
              <a:ahLst/>
              <a:cxnLst/>
              <a:rect r="r" b="b" t="t" l="l"/>
              <a:pathLst>
                <a:path h="7314184" w="11286744">
                  <a:moveTo>
                    <a:pt x="11286744" y="0"/>
                  </a:moveTo>
                  <a:lnTo>
                    <a:pt x="0" y="0"/>
                  </a:lnTo>
                  <a:lnTo>
                    <a:pt x="0" y="7314184"/>
                  </a:lnTo>
                  <a:lnTo>
                    <a:pt x="11286744" y="7314184"/>
                  </a:lnTo>
                  <a:lnTo>
                    <a:pt x="11286744" y="0"/>
                  </a:lnTo>
                  <a:close/>
                </a:path>
              </a:pathLst>
            </a:custGeom>
            <a:blipFill>
              <a:blip r:embed="rId3"/>
              <a:stretch>
                <a:fillRect l="-77840" t="-136585" r="-129901" b="-11937"/>
              </a:stretch>
            </a:blipFill>
          </p:spPr>
        </p:sp>
      </p:grpSp>
      <p:grpSp>
        <p:nvGrpSpPr>
          <p:cNvPr name="Group 6" id="6"/>
          <p:cNvGrpSpPr>
            <a:grpSpLocks noChangeAspect="true"/>
          </p:cNvGrpSpPr>
          <p:nvPr/>
        </p:nvGrpSpPr>
        <p:grpSpPr>
          <a:xfrm rot="-10800000">
            <a:off x="0" y="37440"/>
            <a:ext cx="8875440" cy="4667040"/>
            <a:chOff x="0" y="0"/>
            <a:chExt cx="11833920" cy="6222720"/>
          </a:xfrm>
        </p:grpSpPr>
        <p:sp>
          <p:nvSpPr>
            <p:cNvPr name="Freeform 7" id="7"/>
            <p:cNvSpPr/>
            <p:nvPr/>
          </p:nvSpPr>
          <p:spPr>
            <a:xfrm flipH="true" flipV="false" rot="0">
              <a:off x="0" y="0"/>
              <a:ext cx="11833860" cy="6222746"/>
            </a:xfrm>
            <a:custGeom>
              <a:avLst/>
              <a:gdLst/>
              <a:ahLst/>
              <a:cxnLst/>
              <a:rect r="r" b="b" t="t" l="l"/>
              <a:pathLst>
                <a:path h="6222746" w="11833860">
                  <a:moveTo>
                    <a:pt x="11833860" y="0"/>
                  </a:moveTo>
                  <a:lnTo>
                    <a:pt x="0" y="0"/>
                  </a:lnTo>
                  <a:lnTo>
                    <a:pt x="0" y="6222746"/>
                  </a:lnTo>
                  <a:lnTo>
                    <a:pt x="11833860" y="6222746"/>
                  </a:lnTo>
                  <a:lnTo>
                    <a:pt x="11833860" y="0"/>
                  </a:lnTo>
                  <a:close/>
                </a:path>
              </a:pathLst>
            </a:custGeom>
            <a:blipFill>
              <a:blip r:embed="rId3"/>
              <a:stretch>
                <a:fillRect l="-63702" t="13050" r="-67363" b="-143013"/>
              </a:stretch>
            </a:blipFill>
          </p:spPr>
        </p:sp>
      </p:grpSp>
      <p:grpSp>
        <p:nvGrpSpPr>
          <p:cNvPr name="Group 8" id="8"/>
          <p:cNvGrpSpPr>
            <a:grpSpLocks noChangeAspect="true"/>
          </p:cNvGrpSpPr>
          <p:nvPr/>
        </p:nvGrpSpPr>
        <p:grpSpPr>
          <a:xfrm rot="0">
            <a:off x="720" y="0"/>
            <a:ext cx="5878080" cy="8287920"/>
            <a:chOff x="0" y="0"/>
            <a:chExt cx="7837440" cy="11050560"/>
          </a:xfrm>
        </p:grpSpPr>
        <p:sp>
          <p:nvSpPr>
            <p:cNvPr name="Freeform 9" id="9"/>
            <p:cNvSpPr/>
            <p:nvPr/>
          </p:nvSpPr>
          <p:spPr>
            <a:xfrm flipH="true" flipV="false" rot="0">
              <a:off x="0" y="0"/>
              <a:ext cx="7837424" cy="11050524"/>
            </a:xfrm>
            <a:custGeom>
              <a:avLst/>
              <a:gdLst/>
              <a:ahLst/>
              <a:cxnLst/>
              <a:rect r="r" b="b" t="t" l="l"/>
              <a:pathLst>
                <a:path h="11050524" w="7837424">
                  <a:moveTo>
                    <a:pt x="7837424" y="0"/>
                  </a:moveTo>
                  <a:lnTo>
                    <a:pt x="0" y="0"/>
                  </a:lnTo>
                  <a:lnTo>
                    <a:pt x="0" y="11050524"/>
                  </a:lnTo>
                  <a:lnTo>
                    <a:pt x="7837424" y="11050524"/>
                  </a:lnTo>
                  <a:lnTo>
                    <a:pt x="7837424" y="0"/>
                  </a:lnTo>
                  <a:close/>
                </a:path>
              </a:pathLst>
            </a:custGeom>
            <a:blipFill>
              <a:blip r:embed="rId2"/>
              <a:stretch>
                <a:fillRect l="11015" t="-36386" r="-329866" b="-19077"/>
              </a:stretch>
            </a:blipFill>
          </p:spPr>
        </p:sp>
      </p:grpSp>
      <p:sp>
        <p:nvSpPr>
          <p:cNvPr name="Freeform 10" id="10"/>
          <p:cNvSpPr/>
          <p:nvPr/>
        </p:nvSpPr>
        <p:spPr>
          <a:xfrm flipH="false" flipV="false" rot="0">
            <a:off x="-3554086" y="49705"/>
            <a:ext cx="21046020" cy="10747111"/>
          </a:xfrm>
          <a:custGeom>
            <a:avLst/>
            <a:gdLst/>
            <a:ahLst/>
            <a:cxnLst/>
            <a:rect r="r" b="b" t="t" l="l"/>
            <a:pathLst>
              <a:path h="10747111" w="21046020">
                <a:moveTo>
                  <a:pt x="0" y="0"/>
                </a:moveTo>
                <a:lnTo>
                  <a:pt x="21046020" y="0"/>
                </a:lnTo>
                <a:lnTo>
                  <a:pt x="21046020" y="10747111"/>
                </a:lnTo>
                <a:lnTo>
                  <a:pt x="0" y="10747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352960" y="-428220"/>
            <a:ext cx="13582080" cy="2913840"/>
            <a:chOff x="0" y="0"/>
            <a:chExt cx="18109440" cy="3885120"/>
          </a:xfrm>
        </p:grpSpPr>
        <p:sp>
          <p:nvSpPr>
            <p:cNvPr name="Freeform 12" id="12"/>
            <p:cNvSpPr/>
            <p:nvPr/>
          </p:nvSpPr>
          <p:spPr>
            <a:xfrm flipH="false" flipV="false" rot="0">
              <a:off x="0" y="0"/>
              <a:ext cx="18109440" cy="3885120"/>
            </a:xfrm>
            <a:custGeom>
              <a:avLst/>
              <a:gdLst/>
              <a:ahLst/>
              <a:cxnLst/>
              <a:rect r="r" b="b" t="t" l="l"/>
              <a:pathLst>
                <a:path h="3885120" w="18109440">
                  <a:moveTo>
                    <a:pt x="0" y="0"/>
                  </a:moveTo>
                  <a:lnTo>
                    <a:pt x="18109440" y="0"/>
                  </a:lnTo>
                  <a:lnTo>
                    <a:pt x="18109440" y="3885120"/>
                  </a:lnTo>
                  <a:lnTo>
                    <a:pt x="0" y="3885120"/>
                  </a:lnTo>
                  <a:close/>
                </a:path>
              </a:pathLst>
            </a:custGeom>
            <a:solidFill>
              <a:srgbClr val="000000">
                <a:alpha val="0"/>
              </a:srgbClr>
            </a:solidFill>
          </p:spPr>
        </p:sp>
        <p:sp>
          <p:nvSpPr>
            <p:cNvPr name="TextBox 13" id="13"/>
            <p:cNvSpPr txBox="true"/>
            <p:nvPr/>
          </p:nvSpPr>
          <p:spPr>
            <a:xfrm>
              <a:off x="0" y="-409575"/>
              <a:ext cx="18109440" cy="4294695"/>
            </a:xfrm>
            <a:prstGeom prst="rect">
              <a:avLst/>
            </a:prstGeom>
          </p:spPr>
          <p:txBody>
            <a:bodyPr anchor="b" rtlCol="false" tIns="0" lIns="0" bIns="0" rIns="0"/>
            <a:lstStyle/>
            <a:p>
              <a:pPr algn="ctr">
                <a:lnSpc>
                  <a:spcPts val="13824"/>
                </a:lnSpc>
              </a:pPr>
              <a:r>
                <a:rPr lang="en-US" sz="9600" b="true">
                  <a:solidFill>
                    <a:srgbClr val="FFFFFF"/>
                  </a:solidFill>
                  <a:latin typeface="Calibri (MS) Bold"/>
                  <a:ea typeface="Calibri (MS) Bold"/>
                  <a:cs typeface="Calibri (MS) Bold"/>
                  <a:sym typeface="Calibri (MS) Bold"/>
                </a:rPr>
                <a:t>Problem Statement</a:t>
              </a:r>
            </a:p>
          </p:txBody>
        </p:sp>
      </p:grpSp>
      <p:sp>
        <p:nvSpPr>
          <p:cNvPr name="Freeform 14" id="14"/>
          <p:cNvSpPr/>
          <p:nvPr/>
        </p:nvSpPr>
        <p:spPr>
          <a:xfrm flipH="false" flipV="false" rot="0">
            <a:off x="7579830" y="951024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352954" y="892671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flipH="true" flipV="true">
            <a:off x="-693079" y="49705"/>
            <a:ext cx="2395320" cy="1431240"/>
          </a:xfrm>
          <a:prstGeom prst="line">
            <a:avLst/>
          </a:prstGeom>
          <a:ln cap="rnd" w="28575">
            <a:solidFill>
              <a:srgbClr val="7E4FCF"/>
            </a:solidFill>
            <a:prstDash val="solid"/>
            <a:headEnd type="none" len="sm" w="sm"/>
            <a:tailEnd type="none" len="sm" w="sm"/>
          </a:ln>
        </p:spPr>
      </p:sp>
      <p:sp>
        <p:nvSpPr>
          <p:cNvPr name="AutoShape 17" id="17"/>
          <p:cNvSpPr/>
          <p:nvPr/>
        </p:nvSpPr>
        <p:spPr>
          <a:xfrm flipH="true" flipV="true">
            <a:off x="1381459" y="611560"/>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H="true">
            <a:off x="786190" y="1494454"/>
            <a:ext cx="91140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352960" y="2638120"/>
            <a:ext cx="13399200" cy="6743395"/>
          </a:xfrm>
          <a:prstGeom prst="rect">
            <a:avLst/>
          </a:prstGeom>
        </p:spPr>
        <p:txBody>
          <a:bodyPr anchor="t" rtlCol="false" tIns="0" lIns="0" bIns="0" rIns="0">
            <a:spAutoFit/>
          </a:bodyPr>
          <a:lstStyle/>
          <a:p>
            <a:pPr algn="ctr">
              <a:lnSpc>
                <a:spcPts val="4082"/>
              </a:lnSpc>
            </a:pPr>
            <a:r>
              <a:rPr lang="en-US" sz="3150" b="true">
                <a:solidFill>
                  <a:srgbClr val="FFFFFF"/>
                </a:solidFill>
                <a:latin typeface="Calibri (MS) Bold"/>
                <a:ea typeface="Calibri (MS) Bold"/>
                <a:cs typeface="Calibri (MS) Bold"/>
                <a:sym typeface="Calibri (MS) Bold"/>
              </a:rPr>
              <a:t>GOAL: </a:t>
            </a:r>
            <a:r>
              <a:rPr lang="en-US" sz="3150">
                <a:solidFill>
                  <a:srgbClr val="FFFFFF"/>
                </a:solidFill>
                <a:latin typeface="Calibri (MS)"/>
                <a:ea typeface="Calibri (MS)"/>
                <a:cs typeface="Calibri (MS)"/>
                <a:sym typeface="Calibri (MS)"/>
              </a:rPr>
              <a:t>Develop </a:t>
            </a:r>
            <a:r>
              <a:rPr lang="en-US" sz="3150">
                <a:solidFill>
                  <a:srgbClr val="FFFFFF"/>
                </a:solidFill>
                <a:latin typeface="Calibri (MS)"/>
                <a:ea typeface="Calibri (MS)"/>
                <a:cs typeface="Calibri (MS)"/>
                <a:sym typeface="Calibri (MS)"/>
              </a:rPr>
              <a:t>a robust, interpretable machine-learning solution that identifies customers with high probability of churn.</a:t>
            </a:r>
          </a:p>
          <a:p>
            <a:pPr algn="ctr">
              <a:lnSpc>
                <a:spcPts val="4082"/>
              </a:lnSpc>
            </a:pPr>
          </a:p>
          <a:p>
            <a:pPr algn="ctr">
              <a:lnSpc>
                <a:spcPts val="4082"/>
              </a:lnSpc>
            </a:pPr>
            <a:r>
              <a:rPr lang="en-US" sz="3150" b="true">
                <a:solidFill>
                  <a:srgbClr val="FFFFFF"/>
                </a:solidFill>
                <a:latin typeface="Calibri (MS) Bold"/>
                <a:ea typeface="Calibri (MS) Bold"/>
                <a:cs typeface="Calibri (MS) Bold"/>
                <a:sym typeface="Calibri (MS) Bold"/>
              </a:rPr>
              <a:t>Deliverables:</a:t>
            </a:r>
          </a:p>
          <a:p>
            <a:pPr algn="ctr">
              <a:lnSpc>
                <a:spcPts val="4082"/>
              </a:lnSpc>
            </a:pPr>
            <a:r>
              <a:rPr lang="en-US" sz="3150">
                <a:solidFill>
                  <a:srgbClr val="FFFFFF"/>
                </a:solidFill>
                <a:latin typeface="Calibri (MS)"/>
                <a:ea typeface="Calibri (MS)"/>
                <a:cs typeface="Calibri (MS)"/>
                <a:sym typeface="Calibri (MS)"/>
              </a:rPr>
              <a:t> </a:t>
            </a:r>
            <a:r>
              <a:rPr lang="en-US" sz="3150">
                <a:solidFill>
                  <a:srgbClr val="FFFFFF"/>
                </a:solidFill>
                <a:latin typeface="Calibri (MS)"/>
                <a:ea typeface="Calibri (MS)"/>
                <a:cs typeface="Calibri (MS)"/>
                <a:sym typeface="Calibri (MS)"/>
              </a:rPr>
              <a:t>A trained classifier that predicts churn (binary: Yes/No).</a:t>
            </a:r>
          </a:p>
          <a:p>
            <a:pPr algn="ctr">
              <a:lnSpc>
                <a:spcPts val="4082"/>
              </a:lnSpc>
            </a:pPr>
            <a:r>
              <a:rPr lang="en-US" sz="3150">
                <a:solidFill>
                  <a:srgbClr val="FFFFFF"/>
                </a:solidFill>
                <a:latin typeface="Calibri (MS)"/>
                <a:ea typeface="Calibri (MS)"/>
                <a:cs typeface="Calibri (MS)"/>
                <a:sym typeface="Calibri (MS)"/>
              </a:rPr>
              <a:t>Explanatory analysis and feature-level insights explaining why a customer is likely to churn.</a:t>
            </a:r>
          </a:p>
          <a:p>
            <a:pPr algn="ctr">
              <a:lnSpc>
                <a:spcPts val="4082"/>
              </a:lnSpc>
            </a:pPr>
            <a:r>
              <a:rPr lang="en-US" sz="3150">
                <a:solidFill>
                  <a:srgbClr val="FFFFFF"/>
                </a:solidFill>
                <a:latin typeface="Calibri (MS)"/>
                <a:ea typeface="Calibri (MS)"/>
                <a:cs typeface="Calibri (MS)"/>
                <a:sym typeface="Calibri (MS)"/>
              </a:rPr>
              <a:t>A playbook of recommended business actions (e.g., offers, contract changes, targeted outreach) prioritized by impact/effort.</a:t>
            </a:r>
          </a:p>
          <a:p>
            <a:pPr algn="ctr">
              <a:lnSpc>
                <a:spcPts val="4082"/>
              </a:lnSpc>
            </a:pPr>
          </a:p>
          <a:p>
            <a:pPr algn="ctr">
              <a:lnSpc>
                <a:spcPts val="4082"/>
              </a:lnSpc>
            </a:pPr>
            <a:r>
              <a:rPr lang="en-US" sz="3150">
                <a:solidFill>
                  <a:srgbClr val="FFFFFF"/>
                </a:solidFill>
                <a:latin typeface="Calibri (MS)"/>
                <a:ea typeface="Calibri (MS)"/>
                <a:cs typeface="Calibri (MS)"/>
                <a:sym typeface="Calibri (MS)"/>
              </a:rPr>
              <a:t>Success = model that balances predictive performance (precision/recall for the churn class) and interpretability so business teams can act on results.</a:t>
            </a:r>
          </a:p>
          <a:p>
            <a:pPr algn="ctr">
              <a:lnSpc>
                <a:spcPts val="4082"/>
              </a:lnSpc>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4977000" y="544829"/>
            <a:ext cx="8323920" cy="2025764"/>
            <a:chOff x="0" y="0"/>
            <a:chExt cx="11098560" cy="2701018"/>
          </a:xfrm>
        </p:grpSpPr>
        <p:sp>
          <p:nvSpPr>
            <p:cNvPr name="Freeform 13" id="13"/>
            <p:cNvSpPr/>
            <p:nvPr/>
          </p:nvSpPr>
          <p:spPr>
            <a:xfrm flipH="false" flipV="false" rot="0">
              <a:off x="0" y="0"/>
              <a:ext cx="11098560" cy="2701018"/>
            </a:xfrm>
            <a:custGeom>
              <a:avLst/>
              <a:gdLst/>
              <a:ahLst/>
              <a:cxnLst/>
              <a:rect r="r" b="b" t="t" l="l"/>
              <a:pathLst>
                <a:path h="2701018" w="11098560">
                  <a:moveTo>
                    <a:pt x="0" y="0"/>
                  </a:moveTo>
                  <a:lnTo>
                    <a:pt x="11098560" y="0"/>
                  </a:lnTo>
                  <a:lnTo>
                    <a:pt x="11098560" y="2701018"/>
                  </a:lnTo>
                  <a:lnTo>
                    <a:pt x="0" y="2701018"/>
                  </a:lnTo>
                  <a:close/>
                </a:path>
              </a:pathLst>
            </a:custGeom>
            <a:solidFill>
              <a:srgbClr val="000000">
                <a:alpha val="0"/>
              </a:srgbClr>
            </a:solidFill>
          </p:spPr>
        </p:sp>
        <p:sp>
          <p:nvSpPr>
            <p:cNvPr name="TextBox 14" id="14"/>
            <p:cNvSpPr txBox="true"/>
            <p:nvPr/>
          </p:nvSpPr>
          <p:spPr>
            <a:xfrm>
              <a:off x="0" y="-428625"/>
              <a:ext cx="11098560" cy="3129643"/>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Objectives</a:t>
              </a:r>
            </a:p>
          </p:txBody>
        </p:sp>
      </p:grpSp>
      <p:sp>
        <p:nvSpPr>
          <p:cNvPr name="TextBox 15" id="15"/>
          <p:cNvSpPr txBox="true"/>
          <p:nvPr/>
        </p:nvSpPr>
        <p:spPr>
          <a:xfrm rot="0">
            <a:off x="2588621" y="2585437"/>
            <a:ext cx="13110758" cy="7099935"/>
          </a:xfrm>
          <a:prstGeom prst="rect">
            <a:avLst/>
          </a:prstGeom>
        </p:spPr>
        <p:txBody>
          <a:bodyPr anchor="t" rtlCol="false" tIns="0" lIns="0" bIns="0" rIns="0">
            <a:spAutoFit/>
          </a:bodyPr>
          <a:lstStyle/>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Produce a cleaned and well-documented dataset ready for modelling. </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Perform EDA to reveal patterns and drivers of churn (demographics, services, billing).</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Engineer features that improve predictive power (tenure buckets, service counts, interaction terms).</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Train and tune multiple models (Logistic Regression baseline; tree models; LightGBM) and compare results.</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Evaluate models using appropriate metrics (precision, recall, F1, AUC, confusion matrix) and choose the best tradeoff for business needs. </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Produce interpretability outputs (global feature importance, partial dependence / SHAP, and per-customer explanations for top risk customers).</a:t>
            </a:r>
          </a:p>
          <a:p>
            <a:pPr algn="just" marL="647697" indent="-323848" lvl="1">
              <a:lnSpc>
                <a:spcPts val="4319"/>
              </a:lnSpc>
              <a:buFont typeface="Arial"/>
              <a:buChar char="•"/>
            </a:pPr>
            <a:r>
              <a:rPr lang="en-US" sz="2999">
                <a:solidFill>
                  <a:srgbClr val="FFFFFF"/>
                </a:solidFill>
                <a:latin typeface="Calibri (MS)"/>
                <a:ea typeface="Calibri (MS)"/>
                <a:cs typeface="Calibri (MS)"/>
                <a:sym typeface="Calibri (MS)"/>
              </a:rPr>
              <a:t>Deliver actionable recommendations and a handover (notebook + model artifacts + simple runbook).</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3962656"/>
            <a:ext cx="14972400" cy="2119573"/>
            <a:chOff x="0" y="0"/>
            <a:chExt cx="19963200" cy="2826097"/>
          </a:xfrm>
        </p:grpSpPr>
        <p:sp>
          <p:nvSpPr>
            <p:cNvPr name="Freeform 12" id="12"/>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3" id="13"/>
            <p:cNvSpPr txBox="true"/>
            <p:nvPr/>
          </p:nvSpPr>
          <p:spPr>
            <a:xfrm>
              <a:off x="0" y="-266700"/>
              <a:ext cx="19963200" cy="3092797"/>
            </a:xfrm>
            <a:prstGeom prst="rect">
              <a:avLst/>
            </a:prstGeom>
          </p:spPr>
          <p:txBody>
            <a:bodyPr anchor="b" rtlCol="false" tIns="0" lIns="0" bIns="0" rIns="0"/>
            <a:lstStyle/>
            <a:p>
              <a:pPr algn="ctr">
                <a:lnSpc>
                  <a:spcPts val="14976"/>
                </a:lnSpc>
              </a:pPr>
              <a:r>
                <a:rPr lang="en-US" sz="10400" b="true">
                  <a:solidFill>
                    <a:srgbClr val="FFFFFF"/>
                  </a:solidFill>
                  <a:latin typeface="Arimo Bold"/>
                  <a:ea typeface="Arimo Bold"/>
                  <a:cs typeface="Arimo Bold"/>
                  <a:sym typeface="Arimo Bold"/>
                </a:rPr>
                <a:t>Methodology</a:t>
              </a:r>
            </a:p>
          </p:txBody>
        </p:sp>
      </p:grpSp>
      <p:sp>
        <p:nvSpPr>
          <p:cNvPr name="Freeform 14" id="14"/>
          <p:cNvSpPr/>
          <p:nvPr/>
        </p:nvSpPr>
        <p:spPr>
          <a:xfrm flipH="false" flipV="false" rot="0">
            <a:off x="7579830" y="781887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593030" y="13266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rot="1850321">
            <a:off x="14434625" y="8179395"/>
            <a:ext cx="2790590" cy="0"/>
          </a:xfrm>
          <a:prstGeom prst="line">
            <a:avLst/>
          </a:prstGeom>
          <a:ln cap="rnd" w="28575">
            <a:solidFill>
              <a:srgbClr val="7E4FCF"/>
            </a:solidFill>
            <a:prstDash val="solid"/>
            <a:headEnd type="none" len="sm" w="sm"/>
            <a:tailEnd type="none" len="sm" w="sm"/>
          </a:ln>
        </p:spPr>
      </p:sp>
      <p:sp>
        <p:nvSpPr>
          <p:cNvPr name="AutoShape 17" id="17"/>
          <p:cNvSpPr/>
          <p:nvPr/>
        </p:nvSpPr>
        <p:spPr>
          <a:xfrm rot="4225941">
            <a:off x="14346203" y="7918755"/>
            <a:ext cx="917594" cy="0"/>
          </a:xfrm>
          <a:prstGeom prst="line">
            <a:avLst/>
          </a:prstGeom>
          <a:ln cap="rnd" w="28575">
            <a:solidFill>
              <a:srgbClr val="7E4FCF"/>
            </a:solidFill>
            <a:prstDash val="solid"/>
            <a:headEnd type="none" len="sm" w="sm"/>
            <a:tailEnd type="none" len="sm" w="sm"/>
          </a:ln>
        </p:spPr>
      </p:sp>
      <p:sp>
        <p:nvSpPr>
          <p:cNvPr name="AutoShape 18" id="18"/>
          <p:cNvSpPr/>
          <p:nvPr/>
        </p:nvSpPr>
        <p:spPr>
          <a:xfrm rot="-1140768">
            <a:off x="14636586" y="7388475"/>
            <a:ext cx="963228" cy="0"/>
          </a:xfrm>
          <a:prstGeom prst="line">
            <a:avLst/>
          </a:prstGeom>
          <a:ln cap="rnd" w="28575">
            <a:solidFill>
              <a:srgbClr val="7E4FCF"/>
            </a:solidFill>
            <a:prstDash val="solid"/>
            <a:headEnd type="none" len="sm" w="sm"/>
            <a:tailEnd type="none" len="sm" w="sm"/>
          </a:ln>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4520613" y="2131410"/>
            <a:ext cx="9246774" cy="2025764"/>
            <a:chOff x="0" y="0"/>
            <a:chExt cx="12329033" cy="2701018"/>
          </a:xfrm>
        </p:grpSpPr>
        <p:sp>
          <p:nvSpPr>
            <p:cNvPr name="Freeform 13" id="13"/>
            <p:cNvSpPr/>
            <p:nvPr/>
          </p:nvSpPr>
          <p:spPr>
            <a:xfrm flipH="false" flipV="false" rot="0">
              <a:off x="0" y="0"/>
              <a:ext cx="12329032" cy="2701018"/>
            </a:xfrm>
            <a:custGeom>
              <a:avLst/>
              <a:gdLst/>
              <a:ahLst/>
              <a:cxnLst/>
              <a:rect r="r" b="b" t="t" l="l"/>
              <a:pathLst>
                <a:path h="2701018" w="12329032">
                  <a:moveTo>
                    <a:pt x="0" y="0"/>
                  </a:moveTo>
                  <a:lnTo>
                    <a:pt x="12329032" y="0"/>
                  </a:lnTo>
                  <a:lnTo>
                    <a:pt x="12329032" y="2701018"/>
                  </a:lnTo>
                  <a:lnTo>
                    <a:pt x="0" y="2701018"/>
                  </a:lnTo>
                  <a:close/>
                </a:path>
              </a:pathLst>
            </a:custGeom>
            <a:solidFill>
              <a:srgbClr val="000000">
                <a:alpha val="0"/>
              </a:srgbClr>
            </a:solidFill>
          </p:spPr>
        </p:sp>
        <p:sp>
          <p:nvSpPr>
            <p:cNvPr name="TextBox 14" id="14"/>
            <p:cNvSpPr txBox="true"/>
            <p:nvPr/>
          </p:nvSpPr>
          <p:spPr>
            <a:xfrm>
              <a:off x="0" y="-428625"/>
              <a:ext cx="12329033" cy="3129643"/>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Dataset Selection</a:t>
              </a:r>
            </a:p>
          </p:txBody>
        </p:sp>
      </p:grpSp>
      <p:sp>
        <p:nvSpPr>
          <p:cNvPr name="TextBox 15" id="15"/>
          <p:cNvSpPr txBox="true"/>
          <p:nvPr/>
        </p:nvSpPr>
        <p:spPr>
          <a:xfrm rot="0">
            <a:off x="2588621" y="4064860"/>
            <a:ext cx="13110758" cy="4122040"/>
          </a:xfrm>
          <a:prstGeom prst="rect">
            <a:avLst/>
          </a:prstGeom>
        </p:spPr>
        <p:txBody>
          <a:bodyPr anchor="t" rtlCol="false" tIns="0" lIns="0" bIns="0" rIns="0">
            <a:spAutoFit/>
          </a:bodyPr>
          <a:lstStyle/>
          <a:p>
            <a:pPr algn="ctr">
              <a:lnSpc>
                <a:spcPts val="4607"/>
              </a:lnSpc>
            </a:pPr>
            <a:r>
              <a:rPr lang="en-US" sz="3199">
                <a:solidFill>
                  <a:srgbClr val="FFFFFF"/>
                </a:solidFill>
                <a:latin typeface="Calibri (MS)"/>
                <a:ea typeface="Calibri (MS)"/>
                <a:cs typeface="Calibri (MS)"/>
                <a:sym typeface="Calibri (MS)"/>
              </a:rPr>
              <a:t>The project utilizes the Telco Customer Churn dataset sourced from Kaggle, which comprises detailed customer information including demographics, subscribed services, billing methods, and churn status. This dataset is well-suited for supervised binary classification tasks aimed at predicting customer churn. It provides a rich foundation for building models that can identify at-risk customers and support targeted retention strategies through data-driven insights.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4229185" y="1270958"/>
            <a:ext cx="9829630" cy="2025764"/>
            <a:chOff x="0" y="0"/>
            <a:chExt cx="13106173" cy="2701018"/>
          </a:xfrm>
        </p:grpSpPr>
        <p:sp>
          <p:nvSpPr>
            <p:cNvPr name="Freeform 13" id="13"/>
            <p:cNvSpPr/>
            <p:nvPr/>
          </p:nvSpPr>
          <p:spPr>
            <a:xfrm flipH="false" flipV="false" rot="0">
              <a:off x="0" y="0"/>
              <a:ext cx="13106172" cy="2701018"/>
            </a:xfrm>
            <a:custGeom>
              <a:avLst/>
              <a:gdLst/>
              <a:ahLst/>
              <a:cxnLst/>
              <a:rect r="r" b="b" t="t" l="l"/>
              <a:pathLst>
                <a:path h="2701018" w="13106172">
                  <a:moveTo>
                    <a:pt x="0" y="0"/>
                  </a:moveTo>
                  <a:lnTo>
                    <a:pt x="13106172" y="0"/>
                  </a:lnTo>
                  <a:lnTo>
                    <a:pt x="13106172" y="2701018"/>
                  </a:lnTo>
                  <a:lnTo>
                    <a:pt x="0" y="2701018"/>
                  </a:lnTo>
                  <a:close/>
                </a:path>
              </a:pathLst>
            </a:custGeom>
            <a:solidFill>
              <a:srgbClr val="000000">
                <a:alpha val="0"/>
              </a:srgbClr>
            </a:solidFill>
          </p:spPr>
        </p:sp>
        <p:sp>
          <p:nvSpPr>
            <p:cNvPr name="TextBox 14" id="14"/>
            <p:cNvSpPr txBox="true"/>
            <p:nvPr/>
          </p:nvSpPr>
          <p:spPr>
            <a:xfrm>
              <a:off x="0" y="-428625"/>
              <a:ext cx="13106173" cy="3129643"/>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Data Preprocessing</a:t>
              </a:r>
            </a:p>
          </p:txBody>
        </p:sp>
      </p:grpSp>
      <p:sp>
        <p:nvSpPr>
          <p:cNvPr name="TextBox 15" id="15"/>
          <p:cNvSpPr txBox="true"/>
          <p:nvPr/>
        </p:nvSpPr>
        <p:spPr>
          <a:xfrm rot="0">
            <a:off x="2588621" y="3766200"/>
            <a:ext cx="13110758" cy="5284090"/>
          </a:xfrm>
          <a:prstGeom prst="rect">
            <a:avLst/>
          </a:prstGeom>
        </p:spPr>
        <p:txBody>
          <a:bodyPr anchor="t" rtlCol="false" tIns="0" lIns="0" bIns="0" rIns="0">
            <a:spAutoFit/>
          </a:bodyPr>
          <a:lstStyle/>
          <a:p>
            <a:pPr algn="ctr">
              <a:lnSpc>
                <a:spcPts val="4607"/>
              </a:lnSpc>
            </a:pPr>
            <a:r>
              <a:rPr lang="en-US" sz="3199" b="true">
                <a:solidFill>
                  <a:srgbClr val="FFFFFF"/>
                </a:solidFill>
                <a:latin typeface="Calibri (MS) Bold"/>
                <a:ea typeface="Calibri (MS) Bold"/>
                <a:cs typeface="Calibri (MS) Bold"/>
                <a:sym typeface="Calibri (MS) Bold"/>
              </a:rPr>
              <a:t>Inspect &amp; clean:</a:t>
            </a:r>
            <a:r>
              <a:rPr lang="en-US" sz="3199">
                <a:solidFill>
                  <a:srgbClr val="FFFFFF"/>
                </a:solidFill>
                <a:latin typeface="Calibri (MS)"/>
                <a:ea typeface="Calibri (MS)"/>
                <a:cs typeface="Calibri (MS)"/>
                <a:sym typeface="Calibri (MS)"/>
              </a:rPr>
              <a:t> check for missing values (e.g., TotalCharges often needs attention), inconsistent types, duplicates.</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Type conversion:</a:t>
            </a:r>
            <a:r>
              <a:rPr lang="en-US" sz="3199">
                <a:solidFill>
                  <a:srgbClr val="FFFFFF"/>
                </a:solidFill>
                <a:latin typeface="Calibri (MS)"/>
                <a:ea typeface="Calibri (MS)"/>
                <a:cs typeface="Calibri (MS)"/>
                <a:sym typeface="Calibri (MS)"/>
              </a:rPr>
              <a:t> convert numeric-looking strings to numeric (e.g., TotalCharges); convert SeniorCitizen to categorical if needed.</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Missing value handling:</a:t>
            </a:r>
            <a:r>
              <a:rPr lang="en-US" sz="3199">
                <a:solidFill>
                  <a:srgbClr val="FFFFFF"/>
                </a:solidFill>
                <a:latin typeface="Calibri (MS)"/>
                <a:ea typeface="Calibri (MS)"/>
                <a:cs typeface="Calibri (MS)"/>
                <a:sym typeface="Calibri (MS)"/>
              </a:rPr>
              <a:t> impute or drop rows sensibly (document any removals).</a:t>
            </a:r>
          </a:p>
          <a:p>
            <a:pPr algn="ctr">
              <a:lnSpc>
                <a:spcPts val="4607"/>
              </a:lnSpc>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4229185" y="1270958"/>
            <a:ext cx="9829630" cy="2025764"/>
            <a:chOff x="0" y="0"/>
            <a:chExt cx="13106173" cy="2701018"/>
          </a:xfrm>
        </p:grpSpPr>
        <p:sp>
          <p:nvSpPr>
            <p:cNvPr name="Freeform 13" id="13"/>
            <p:cNvSpPr/>
            <p:nvPr/>
          </p:nvSpPr>
          <p:spPr>
            <a:xfrm flipH="false" flipV="false" rot="0">
              <a:off x="0" y="0"/>
              <a:ext cx="13106172" cy="2701018"/>
            </a:xfrm>
            <a:custGeom>
              <a:avLst/>
              <a:gdLst/>
              <a:ahLst/>
              <a:cxnLst/>
              <a:rect r="r" b="b" t="t" l="l"/>
              <a:pathLst>
                <a:path h="2701018" w="13106172">
                  <a:moveTo>
                    <a:pt x="0" y="0"/>
                  </a:moveTo>
                  <a:lnTo>
                    <a:pt x="13106172" y="0"/>
                  </a:lnTo>
                  <a:lnTo>
                    <a:pt x="13106172" y="2701018"/>
                  </a:lnTo>
                  <a:lnTo>
                    <a:pt x="0" y="2701018"/>
                  </a:lnTo>
                  <a:close/>
                </a:path>
              </a:pathLst>
            </a:custGeom>
            <a:solidFill>
              <a:srgbClr val="000000">
                <a:alpha val="0"/>
              </a:srgbClr>
            </a:solidFill>
          </p:spPr>
        </p:sp>
        <p:sp>
          <p:nvSpPr>
            <p:cNvPr name="TextBox 14" id="14"/>
            <p:cNvSpPr txBox="true"/>
            <p:nvPr/>
          </p:nvSpPr>
          <p:spPr>
            <a:xfrm>
              <a:off x="0" y="-428625"/>
              <a:ext cx="13106173" cy="3129643"/>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Data Preprocessing</a:t>
              </a:r>
            </a:p>
          </p:txBody>
        </p:sp>
      </p:grpSp>
      <p:sp>
        <p:nvSpPr>
          <p:cNvPr name="TextBox 15" id="15"/>
          <p:cNvSpPr txBox="true"/>
          <p:nvPr/>
        </p:nvSpPr>
        <p:spPr>
          <a:xfrm rot="0">
            <a:off x="2588621" y="3766200"/>
            <a:ext cx="13110758" cy="5865115"/>
          </a:xfrm>
          <a:prstGeom prst="rect">
            <a:avLst/>
          </a:prstGeom>
        </p:spPr>
        <p:txBody>
          <a:bodyPr anchor="t" rtlCol="false" tIns="0" lIns="0" bIns="0" rIns="0">
            <a:spAutoFit/>
          </a:bodyPr>
          <a:lstStyle/>
          <a:p>
            <a:pPr algn="ctr">
              <a:lnSpc>
                <a:spcPts val="4607"/>
              </a:lnSpc>
            </a:pPr>
            <a:r>
              <a:rPr lang="en-US" sz="3199" b="true">
                <a:solidFill>
                  <a:srgbClr val="FFFFFF"/>
                </a:solidFill>
                <a:latin typeface="Calibri (MS) Bold"/>
                <a:ea typeface="Calibri (MS) Bold"/>
                <a:cs typeface="Calibri (MS) Bold"/>
                <a:sym typeface="Calibri (MS) Bold"/>
              </a:rPr>
              <a:t>Encoding categorical variables:</a:t>
            </a:r>
            <a:r>
              <a:rPr lang="en-US" sz="3199">
                <a:solidFill>
                  <a:srgbClr val="FFFFFF"/>
                </a:solidFill>
                <a:latin typeface="Calibri (MS)"/>
                <a:ea typeface="Calibri (MS)"/>
                <a:cs typeface="Calibri (MS)"/>
                <a:sym typeface="Calibri (MS)"/>
              </a:rPr>
              <a:t> use target-aware encoding where appropriate (one-hot for unordered small-cardinality, ordinal or frequency encoding for others). it mentions encoding gender, contract type, payment method, etc.</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Scaling:</a:t>
            </a:r>
            <a:r>
              <a:rPr lang="en-US" sz="3199">
                <a:solidFill>
                  <a:srgbClr val="FFFFFF"/>
                </a:solidFill>
                <a:latin typeface="Calibri (MS)"/>
                <a:ea typeface="Calibri (MS)"/>
                <a:cs typeface="Calibri (MS)"/>
                <a:sym typeface="Calibri (MS)"/>
              </a:rPr>
              <a:t> scale numerical features (e.g., MonthlyCharges, TotalCharges) for distance-based models or when required. </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Train/test split:</a:t>
            </a:r>
            <a:r>
              <a:rPr lang="en-US" sz="3199">
                <a:solidFill>
                  <a:srgbClr val="FFFFFF"/>
                </a:solidFill>
                <a:latin typeface="Calibri (MS)"/>
                <a:ea typeface="Calibri (MS)"/>
                <a:cs typeface="Calibri (MS)"/>
                <a:sym typeface="Calibri (MS)"/>
              </a:rPr>
              <a:t> stratify on churn to keep class balance; keep a holdout test set for final evaluation.</a:t>
            </a:r>
          </a:p>
          <a:p>
            <a:pPr algn="ctr">
              <a:lnSpc>
                <a:spcPts val="4607"/>
              </a:lnSpc>
            </a:pP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10800000">
            <a:off x="12428250" y="37440"/>
            <a:ext cx="5878080" cy="10286640"/>
            <a:chOff x="0" y="0"/>
            <a:chExt cx="7837440" cy="13715520"/>
          </a:xfrm>
        </p:grpSpPr>
        <p:sp>
          <p:nvSpPr>
            <p:cNvPr name="Freeform 3" id="3"/>
            <p:cNvSpPr/>
            <p:nvPr/>
          </p:nvSpPr>
          <p:spPr>
            <a:xfrm flipH="true" flipV="false" rot="0">
              <a:off x="0" y="0"/>
              <a:ext cx="7837424" cy="13715492"/>
            </a:xfrm>
            <a:custGeom>
              <a:avLst/>
              <a:gdLst/>
              <a:ahLst/>
              <a:cxnLst/>
              <a:rect r="r" b="b" t="t" l="l"/>
              <a:pathLst>
                <a:path h="13715492" w="7837424">
                  <a:moveTo>
                    <a:pt x="7837424" y="0"/>
                  </a:moveTo>
                  <a:lnTo>
                    <a:pt x="0" y="0"/>
                  </a:lnTo>
                  <a:lnTo>
                    <a:pt x="0" y="13715492"/>
                  </a:lnTo>
                  <a:lnTo>
                    <a:pt x="7837424" y="13715492"/>
                  </a:lnTo>
                  <a:lnTo>
                    <a:pt x="7837424" y="0"/>
                  </a:lnTo>
                  <a:close/>
                </a:path>
              </a:pathLst>
            </a:custGeom>
            <a:blipFill>
              <a:blip r:embed="rId2"/>
              <a:stretch>
                <a:fillRect l="-20897" t="-18398" r="-353066" b="-23338"/>
              </a:stretch>
            </a:blipFill>
          </p:spPr>
        </p:sp>
      </p:grpSp>
      <p:grpSp>
        <p:nvGrpSpPr>
          <p:cNvPr name="Group 4" id="4"/>
          <p:cNvGrpSpPr>
            <a:grpSpLocks noChangeAspect="true"/>
          </p:cNvGrpSpPr>
          <p:nvPr/>
        </p:nvGrpSpPr>
        <p:grpSpPr>
          <a:xfrm rot="-10800000">
            <a:off x="9822240" y="4837680"/>
            <a:ext cx="8465040" cy="5485680"/>
            <a:chOff x="0" y="0"/>
            <a:chExt cx="11286720" cy="7314240"/>
          </a:xfrm>
        </p:grpSpPr>
        <p:sp>
          <p:nvSpPr>
            <p:cNvPr name="Freeform 5" id="5"/>
            <p:cNvSpPr/>
            <p:nvPr/>
          </p:nvSpPr>
          <p:spPr>
            <a:xfrm flipH="true" flipV="false" rot="0">
              <a:off x="0" y="0"/>
              <a:ext cx="11286744" cy="7314184"/>
            </a:xfrm>
            <a:custGeom>
              <a:avLst/>
              <a:gdLst/>
              <a:ahLst/>
              <a:cxnLst/>
              <a:rect r="r" b="b" t="t" l="l"/>
              <a:pathLst>
                <a:path h="7314184" w="11286744">
                  <a:moveTo>
                    <a:pt x="11286744" y="0"/>
                  </a:moveTo>
                  <a:lnTo>
                    <a:pt x="0" y="0"/>
                  </a:lnTo>
                  <a:lnTo>
                    <a:pt x="0" y="7314184"/>
                  </a:lnTo>
                  <a:lnTo>
                    <a:pt x="11286744" y="7314184"/>
                  </a:lnTo>
                  <a:lnTo>
                    <a:pt x="11286744" y="0"/>
                  </a:lnTo>
                  <a:close/>
                </a:path>
              </a:pathLst>
            </a:custGeom>
            <a:blipFill>
              <a:blip r:embed="rId3"/>
              <a:stretch>
                <a:fillRect l="-77840" t="-136585" r="-129901" b="-11937"/>
              </a:stretch>
            </a:blipFill>
          </p:spPr>
        </p:sp>
      </p:grpSp>
      <p:grpSp>
        <p:nvGrpSpPr>
          <p:cNvPr name="Group 6" id="6"/>
          <p:cNvGrpSpPr>
            <a:grpSpLocks noChangeAspect="true"/>
          </p:cNvGrpSpPr>
          <p:nvPr/>
        </p:nvGrpSpPr>
        <p:grpSpPr>
          <a:xfrm rot="-10800000">
            <a:off x="0" y="37440"/>
            <a:ext cx="8875440" cy="4667040"/>
            <a:chOff x="0" y="0"/>
            <a:chExt cx="11833920" cy="6222720"/>
          </a:xfrm>
        </p:grpSpPr>
        <p:sp>
          <p:nvSpPr>
            <p:cNvPr name="Freeform 7" id="7"/>
            <p:cNvSpPr/>
            <p:nvPr/>
          </p:nvSpPr>
          <p:spPr>
            <a:xfrm flipH="true" flipV="false" rot="0">
              <a:off x="0" y="0"/>
              <a:ext cx="11833860" cy="6222746"/>
            </a:xfrm>
            <a:custGeom>
              <a:avLst/>
              <a:gdLst/>
              <a:ahLst/>
              <a:cxnLst/>
              <a:rect r="r" b="b" t="t" l="l"/>
              <a:pathLst>
                <a:path h="6222746" w="11833860">
                  <a:moveTo>
                    <a:pt x="11833860" y="0"/>
                  </a:moveTo>
                  <a:lnTo>
                    <a:pt x="0" y="0"/>
                  </a:lnTo>
                  <a:lnTo>
                    <a:pt x="0" y="6222746"/>
                  </a:lnTo>
                  <a:lnTo>
                    <a:pt x="11833860" y="6222746"/>
                  </a:lnTo>
                  <a:lnTo>
                    <a:pt x="11833860" y="0"/>
                  </a:lnTo>
                  <a:close/>
                </a:path>
              </a:pathLst>
            </a:custGeom>
            <a:blipFill>
              <a:blip r:embed="rId3"/>
              <a:stretch>
                <a:fillRect l="-63702" t="13050" r="-67363" b="-143013"/>
              </a:stretch>
            </a:blipFill>
          </p:spPr>
        </p:sp>
      </p:grpSp>
      <p:grpSp>
        <p:nvGrpSpPr>
          <p:cNvPr name="Group 8" id="8"/>
          <p:cNvGrpSpPr>
            <a:grpSpLocks noChangeAspect="true"/>
          </p:cNvGrpSpPr>
          <p:nvPr/>
        </p:nvGrpSpPr>
        <p:grpSpPr>
          <a:xfrm rot="0">
            <a:off x="720" y="0"/>
            <a:ext cx="5878080" cy="8287920"/>
            <a:chOff x="0" y="0"/>
            <a:chExt cx="7837440" cy="11050560"/>
          </a:xfrm>
        </p:grpSpPr>
        <p:sp>
          <p:nvSpPr>
            <p:cNvPr name="Freeform 9" id="9"/>
            <p:cNvSpPr/>
            <p:nvPr/>
          </p:nvSpPr>
          <p:spPr>
            <a:xfrm flipH="true" flipV="false" rot="0">
              <a:off x="0" y="0"/>
              <a:ext cx="7837424" cy="11050524"/>
            </a:xfrm>
            <a:custGeom>
              <a:avLst/>
              <a:gdLst/>
              <a:ahLst/>
              <a:cxnLst/>
              <a:rect r="r" b="b" t="t" l="l"/>
              <a:pathLst>
                <a:path h="11050524" w="7837424">
                  <a:moveTo>
                    <a:pt x="7837424" y="0"/>
                  </a:moveTo>
                  <a:lnTo>
                    <a:pt x="0" y="0"/>
                  </a:lnTo>
                  <a:lnTo>
                    <a:pt x="0" y="11050524"/>
                  </a:lnTo>
                  <a:lnTo>
                    <a:pt x="7837424" y="11050524"/>
                  </a:lnTo>
                  <a:lnTo>
                    <a:pt x="7837424" y="0"/>
                  </a:lnTo>
                  <a:close/>
                </a:path>
              </a:pathLst>
            </a:custGeom>
            <a:blipFill>
              <a:blip r:embed="rId2"/>
              <a:stretch>
                <a:fillRect l="11015" t="-36386" r="-329866" b="-19077"/>
              </a:stretch>
            </a:blipFill>
          </p:spPr>
        </p:sp>
      </p:grpSp>
      <p:sp>
        <p:nvSpPr>
          <p:cNvPr name="Freeform 10" id="10"/>
          <p:cNvSpPr/>
          <p:nvPr/>
        </p:nvSpPr>
        <p:spPr>
          <a:xfrm flipH="false" flipV="false" rot="0">
            <a:off x="-3888152" y="-421283"/>
            <a:ext cx="22176152" cy="11324211"/>
          </a:xfrm>
          <a:custGeom>
            <a:avLst/>
            <a:gdLst/>
            <a:ahLst/>
            <a:cxnLst/>
            <a:rect r="r" b="b" t="t" l="l"/>
            <a:pathLst>
              <a:path h="11324211" w="22176152">
                <a:moveTo>
                  <a:pt x="0" y="0"/>
                </a:moveTo>
                <a:lnTo>
                  <a:pt x="22176152" y="0"/>
                </a:lnTo>
                <a:lnTo>
                  <a:pt x="22176152" y="11324212"/>
                </a:lnTo>
                <a:lnTo>
                  <a:pt x="0" y="113242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352960" y="-421283"/>
            <a:ext cx="13582080" cy="2913840"/>
            <a:chOff x="0" y="0"/>
            <a:chExt cx="18109440" cy="3885120"/>
          </a:xfrm>
        </p:grpSpPr>
        <p:sp>
          <p:nvSpPr>
            <p:cNvPr name="Freeform 12" id="12"/>
            <p:cNvSpPr/>
            <p:nvPr/>
          </p:nvSpPr>
          <p:spPr>
            <a:xfrm flipH="false" flipV="false" rot="0">
              <a:off x="0" y="0"/>
              <a:ext cx="18109440" cy="3885120"/>
            </a:xfrm>
            <a:custGeom>
              <a:avLst/>
              <a:gdLst/>
              <a:ahLst/>
              <a:cxnLst/>
              <a:rect r="r" b="b" t="t" l="l"/>
              <a:pathLst>
                <a:path h="3885120" w="18109440">
                  <a:moveTo>
                    <a:pt x="0" y="0"/>
                  </a:moveTo>
                  <a:lnTo>
                    <a:pt x="18109440" y="0"/>
                  </a:lnTo>
                  <a:lnTo>
                    <a:pt x="18109440" y="3885120"/>
                  </a:lnTo>
                  <a:lnTo>
                    <a:pt x="0" y="3885120"/>
                  </a:lnTo>
                  <a:close/>
                </a:path>
              </a:pathLst>
            </a:custGeom>
            <a:solidFill>
              <a:srgbClr val="000000">
                <a:alpha val="0"/>
              </a:srgbClr>
            </a:solidFill>
          </p:spPr>
        </p:sp>
        <p:sp>
          <p:nvSpPr>
            <p:cNvPr name="TextBox 13" id="13"/>
            <p:cNvSpPr txBox="true"/>
            <p:nvPr/>
          </p:nvSpPr>
          <p:spPr>
            <a:xfrm>
              <a:off x="0" y="-342900"/>
              <a:ext cx="18109440" cy="4228020"/>
            </a:xfrm>
            <a:prstGeom prst="rect">
              <a:avLst/>
            </a:prstGeom>
          </p:spPr>
          <p:txBody>
            <a:bodyPr anchor="b" rtlCol="false" tIns="0" lIns="0" bIns="0" rIns="0"/>
            <a:lstStyle/>
            <a:p>
              <a:pPr algn="ctr">
                <a:lnSpc>
                  <a:spcPts val="11520"/>
                </a:lnSpc>
              </a:pPr>
              <a:r>
                <a:rPr lang="en-US" sz="8000" b="true">
                  <a:solidFill>
                    <a:srgbClr val="FFFFFF"/>
                  </a:solidFill>
                  <a:latin typeface="Calibri (MS) Bold"/>
                  <a:ea typeface="Calibri (MS) Bold"/>
                  <a:cs typeface="Calibri (MS) Bold"/>
                  <a:sym typeface="Calibri (MS) Bold"/>
                </a:rPr>
                <a:t>Exploratory Data Analysis (EDA)</a:t>
              </a:r>
            </a:p>
          </p:txBody>
        </p:sp>
      </p:grpSp>
      <p:sp>
        <p:nvSpPr>
          <p:cNvPr name="Freeform 14" id="14"/>
          <p:cNvSpPr/>
          <p:nvPr/>
        </p:nvSpPr>
        <p:spPr>
          <a:xfrm flipH="false" flipV="false" rot="0">
            <a:off x="7579830" y="940722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6971015" y="897882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flipH="true" flipV="true">
            <a:off x="-368371" y="50949"/>
            <a:ext cx="2395320" cy="1431240"/>
          </a:xfrm>
          <a:prstGeom prst="line">
            <a:avLst/>
          </a:prstGeom>
          <a:ln cap="rnd" w="28575">
            <a:solidFill>
              <a:srgbClr val="7E4FCF"/>
            </a:solidFill>
            <a:prstDash val="solid"/>
            <a:headEnd type="none" len="sm" w="sm"/>
            <a:tailEnd type="none" len="sm" w="sm"/>
          </a:ln>
        </p:spPr>
      </p:sp>
      <p:sp>
        <p:nvSpPr>
          <p:cNvPr name="AutoShape 17" id="17"/>
          <p:cNvSpPr/>
          <p:nvPr/>
        </p:nvSpPr>
        <p:spPr>
          <a:xfrm flipH="true" flipV="true">
            <a:off x="1726958" y="611560"/>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H="true">
            <a:off x="1124360" y="1494454"/>
            <a:ext cx="91140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535840" y="2942170"/>
            <a:ext cx="13399200" cy="6620180"/>
          </a:xfrm>
          <a:prstGeom prst="rect">
            <a:avLst/>
          </a:prstGeom>
        </p:spPr>
        <p:txBody>
          <a:bodyPr anchor="t" rtlCol="false" tIns="0" lIns="0" bIns="0" rIns="0">
            <a:spAutoFit/>
          </a:bodyPr>
          <a:lstStyle/>
          <a:p>
            <a:pPr algn="ctr">
              <a:lnSpc>
                <a:spcPts val="4017"/>
              </a:lnSpc>
            </a:pPr>
            <a:r>
              <a:rPr lang="en-US" sz="3100" b="true">
                <a:solidFill>
                  <a:srgbClr val="FFFFFF"/>
                </a:solidFill>
                <a:latin typeface="Calibri (MS) Bold"/>
                <a:ea typeface="Calibri (MS) Bold"/>
                <a:cs typeface="Calibri (MS) Bold"/>
                <a:sym typeface="Calibri (MS) Bold"/>
              </a:rPr>
              <a:t>Un</a:t>
            </a:r>
            <a:r>
              <a:rPr lang="en-US" sz="3100" b="true">
                <a:solidFill>
                  <a:srgbClr val="FFFFFF"/>
                </a:solidFill>
                <a:latin typeface="Calibri (MS) Bold"/>
                <a:ea typeface="Calibri (MS) Bold"/>
                <a:cs typeface="Calibri (MS) Bold"/>
                <a:sym typeface="Calibri (MS) Bold"/>
              </a:rPr>
              <a:t>ivariate:</a:t>
            </a:r>
            <a:r>
              <a:rPr lang="en-US" sz="3100">
                <a:solidFill>
                  <a:srgbClr val="FFFFFF"/>
                </a:solidFill>
                <a:latin typeface="Calibri (MS)"/>
                <a:ea typeface="Calibri (MS)"/>
                <a:cs typeface="Calibri (MS)"/>
                <a:sym typeface="Calibri (MS)"/>
              </a:rPr>
              <a:t> distributions, outliers, percent missing.</a:t>
            </a:r>
          </a:p>
          <a:p>
            <a:pPr algn="ctr">
              <a:lnSpc>
                <a:spcPts val="4017"/>
              </a:lnSpc>
            </a:pPr>
          </a:p>
          <a:p>
            <a:pPr algn="ctr">
              <a:lnSpc>
                <a:spcPts val="4017"/>
              </a:lnSpc>
            </a:pPr>
            <a:r>
              <a:rPr lang="en-US" sz="3100" b="true">
                <a:solidFill>
                  <a:srgbClr val="FFFFFF"/>
                </a:solidFill>
                <a:latin typeface="Calibri (MS) Bold"/>
                <a:ea typeface="Calibri (MS) Bold"/>
                <a:cs typeface="Calibri (MS) Bold"/>
                <a:sym typeface="Calibri (MS) Bold"/>
              </a:rPr>
              <a:t>Bivariate:</a:t>
            </a:r>
            <a:r>
              <a:rPr lang="en-US" sz="3100">
                <a:solidFill>
                  <a:srgbClr val="FFFFFF"/>
                </a:solidFill>
                <a:latin typeface="Calibri (MS)"/>
                <a:ea typeface="Calibri (MS)"/>
                <a:cs typeface="Calibri (MS)"/>
                <a:sym typeface="Calibri (MS)"/>
              </a:rPr>
              <a:t> churn vs each</a:t>
            </a:r>
            <a:r>
              <a:rPr lang="en-US" sz="3100">
                <a:solidFill>
                  <a:srgbClr val="FFFFFF"/>
                </a:solidFill>
                <a:latin typeface="Calibri (MS)"/>
                <a:ea typeface="Calibri (MS)"/>
                <a:cs typeface="Calibri (MS)"/>
                <a:sym typeface="Calibri (MS)"/>
              </a:rPr>
              <a:t> feature (bar charts for categorical, boxplots for numerical).</a:t>
            </a:r>
          </a:p>
          <a:p>
            <a:pPr algn="ctr">
              <a:lnSpc>
                <a:spcPts val="4017"/>
              </a:lnSpc>
            </a:pPr>
          </a:p>
          <a:p>
            <a:pPr algn="ctr">
              <a:lnSpc>
                <a:spcPts val="4017"/>
              </a:lnSpc>
            </a:pPr>
            <a:r>
              <a:rPr lang="en-US" sz="3100" b="true">
                <a:solidFill>
                  <a:srgbClr val="FFFFFF"/>
                </a:solidFill>
                <a:latin typeface="Calibri (MS) Bold"/>
                <a:ea typeface="Calibri (MS) Bold"/>
                <a:cs typeface="Calibri (MS) Bold"/>
                <a:sym typeface="Calibri (MS) Bold"/>
              </a:rPr>
              <a:t>Corre</a:t>
            </a:r>
            <a:r>
              <a:rPr lang="en-US" sz="3100" b="true">
                <a:solidFill>
                  <a:srgbClr val="FFFFFF"/>
                </a:solidFill>
                <a:latin typeface="Calibri (MS) Bold"/>
                <a:ea typeface="Calibri (MS) Bold"/>
                <a:cs typeface="Calibri (MS) Bold"/>
                <a:sym typeface="Calibri (MS) Bold"/>
              </a:rPr>
              <a:t>lation analysis:</a:t>
            </a:r>
            <a:r>
              <a:rPr lang="en-US" sz="3100">
                <a:solidFill>
                  <a:srgbClr val="FFFFFF"/>
                </a:solidFill>
                <a:latin typeface="Calibri (MS)"/>
                <a:ea typeface="Calibri (MS)"/>
                <a:cs typeface="Calibri (MS)"/>
                <a:sym typeface="Calibri (MS)"/>
              </a:rPr>
              <a:t> numeric correlation + Cramér’s V for categoricals to spot collinearity.</a:t>
            </a:r>
          </a:p>
          <a:p>
            <a:pPr algn="ctr">
              <a:lnSpc>
                <a:spcPts val="4017"/>
              </a:lnSpc>
            </a:pPr>
          </a:p>
          <a:p>
            <a:pPr algn="ctr">
              <a:lnSpc>
                <a:spcPts val="4017"/>
              </a:lnSpc>
            </a:pPr>
            <a:r>
              <a:rPr lang="en-US" sz="3100" b="true">
                <a:solidFill>
                  <a:srgbClr val="FFFFFF"/>
                </a:solidFill>
                <a:latin typeface="Calibri (MS) Bold"/>
                <a:ea typeface="Calibri (MS) Bold"/>
                <a:cs typeface="Calibri (MS) Bold"/>
                <a:sym typeface="Calibri (MS) Bold"/>
              </a:rPr>
              <a:t>Churn profiling:</a:t>
            </a:r>
            <a:r>
              <a:rPr lang="en-US" sz="3100">
                <a:solidFill>
                  <a:srgbClr val="FFFFFF"/>
                </a:solidFill>
                <a:latin typeface="Calibri (MS)"/>
                <a:ea typeface="Calibri (MS)"/>
                <a:cs typeface="Calibri (MS)"/>
                <a:sym typeface="Calibri (MS)"/>
              </a:rPr>
              <a:t> churn</a:t>
            </a:r>
            <a:r>
              <a:rPr lang="en-US" sz="3100">
                <a:solidFill>
                  <a:srgbClr val="FFFFFF"/>
                </a:solidFill>
                <a:latin typeface="Calibri (MS)"/>
                <a:ea typeface="Calibri (MS)"/>
                <a:cs typeface="Calibri (MS)"/>
                <a:sym typeface="Calibri (MS)"/>
              </a:rPr>
              <a:t> rate by contract type, tenure bucket, payment method, services (e.g., InternetService, OnlineSecurity), and demographics. it indicates EDA and churn analysis were performed — reproduce and extend those plots.</a:t>
            </a:r>
          </a:p>
          <a:p>
            <a:pPr algn="ctr">
              <a:lnSpc>
                <a:spcPts val="4017"/>
              </a:lnSpc>
            </a:pPr>
          </a:p>
          <a:p>
            <a:pPr algn="ctr">
              <a:lnSpc>
                <a:spcPts val="4017"/>
              </a:lnSpc>
            </a:pPr>
            <a:r>
              <a:rPr lang="en-US" sz="3100">
                <a:solidFill>
                  <a:srgbClr val="FFFFFF"/>
                </a:solidFill>
                <a:latin typeface="Calibri (MS)"/>
                <a:ea typeface="Calibri (MS)"/>
                <a:cs typeface="Calibri (MS)"/>
                <a:sym typeface="Calibri (MS)"/>
              </a:rPr>
              <a:t> </a:t>
            </a:r>
            <a:r>
              <a:rPr lang="en-US" sz="3100" b="true">
                <a:solidFill>
                  <a:srgbClr val="FFFFFF"/>
                </a:solidFill>
                <a:latin typeface="Calibri (MS) Bold"/>
                <a:ea typeface="Calibri (MS) Bold"/>
                <a:cs typeface="Calibri (MS) Bold"/>
                <a:sym typeface="Calibri (MS) Bold"/>
              </a:rPr>
              <a:t>Insight: </a:t>
            </a:r>
            <a:r>
              <a:rPr lang="en-US" sz="3100">
                <a:solidFill>
                  <a:srgbClr val="FFFFFF"/>
                </a:solidFill>
                <a:latin typeface="Calibri (MS)"/>
                <a:ea typeface="Calibri (MS)"/>
                <a:cs typeface="Calibri (MS)"/>
                <a:sym typeface="Calibri (MS)"/>
              </a:rPr>
              <a:t>month-to-month contracts and low tenure correlate with higher churn.</a:t>
            </a:r>
          </a:p>
          <a:p>
            <a:pPr algn="ctr">
              <a:lnSpc>
                <a:spcPts val="4017"/>
              </a:lnSpc>
            </a:pP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949900" y="1270958"/>
            <a:ext cx="10388200" cy="2025764"/>
            <a:chOff x="0" y="0"/>
            <a:chExt cx="13850933" cy="2701018"/>
          </a:xfrm>
        </p:grpSpPr>
        <p:sp>
          <p:nvSpPr>
            <p:cNvPr name="Freeform 13" id="13"/>
            <p:cNvSpPr/>
            <p:nvPr/>
          </p:nvSpPr>
          <p:spPr>
            <a:xfrm flipH="false" flipV="false" rot="0">
              <a:off x="0" y="0"/>
              <a:ext cx="13850933" cy="2701018"/>
            </a:xfrm>
            <a:custGeom>
              <a:avLst/>
              <a:gdLst/>
              <a:ahLst/>
              <a:cxnLst/>
              <a:rect r="r" b="b" t="t" l="l"/>
              <a:pathLst>
                <a:path h="2701018" w="13850933">
                  <a:moveTo>
                    <a:pt x="0" y="0"/>
                  </a:moveTo>
                  <a:lnTo>
                    <a:pt x="13850933" y="0"/>
                  </a:lnTo>
                  <a:lnTo>
                    <a:pt x="13850933" y="2701018"/>
                  </a:lnTo>
                  <a:lnTo>
                    <a:pt x="0" y="2701018"/>
                  </a:lnTo>
                  <a:close/>
                </a:path>
              </a:pathLst>
            </a:custGeom>
            <a:solidFill>
              <a:srgbClr val="000000">
                <a:alpha val="0"/>
              </a:srgbClr>
            </a:solidFill>
          </p:spPr>
        </p:sp>
        <p:sp>
          <p:nvSpPr>
            <p:cNvPr name="TextBox 14" id="14"/>
            <p:cNvSpPr txBox="true"/>
            <p:nvPr/>
          </p:nvSpPr>
          <p:spPr>
            <a:xfrm>
              <a:off x="0" y="-428625"/>
              <a:ext cx="13850933" cy="3129643"/>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Feature Engineering</a:t>
              </a:r>
            </a:p>
          </p:txBody>
        </p:sp>
      </p:grpSp>
      <p:sp>
        <p:nvSpPr>
          <p:cNvPr name="TextBox 15" id="15"/>
          <p:cNvSpPr txBox="true"/>
          <p:nvPr/>
        </p:nvSpPr>
        <p:spPr>
          <a:xfrm rot="0">
            <a:off x="2939760" y="3353872"/>
            <a:ext cx="13110758" cy="7099935"/>
          </a:xfrm>
          <a:prstGeom prst="rect">
            <a:avLst/>
          </a:prstGeom>
        </p:spPr>
        <p:txBody>
          <a:bodyPr anchor="t" rtlCol="false" tIns="0" lIns="0" bIns="0" rIns="0">
            <a:spAutoFit/>
          </a:bodyPr>
          <a:lstStyle/>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Create tenure buckets to segment customers by service duration.</a:t>
            </a:r>
          </a:p>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Compute service_count (number of add-ons such as OnlineSecurity, TechSupport, Streaming) as an engagement signal.</a:t>
            </a:r>
          </a:p>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Convert categorical fields into binary flags (e.g., Contract: month-to-month / one-year / two-year; PaperlessBilling).</a:t>
            </a:r>
          </a:p>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Add interaction features (e.g., MonthlyCharges × contract_type) to capture compound effects.</a:t>
            </a:r>
          </a:p>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Construct recency proxies where possible to reflect recent activity or billing changes.</a:t>
            </a:r>
          </a:p>
          <a:p>
            <a:pPr algn="l" marL="647697" indent="-323848" lvl="1">
              <a:lnSpc>
                <a:spcPts val="4319"/>
              </a:lnSpc>
              <a:buFont typeface="Arial"/>
              <a:buChar char="•"/>
            </a:pPr>
            <a:r>
              <a:rPr lang="en-US" sz="2999">
                <a:solidFill>
                  <a:srgbClr val="FFFFFF"/>
                </a:solidFill>
                <a:latin typeface="Calibri (MS)"/>
                <a:ea typeface="Calibri (MS)"/>
                <a:cs typeface="Calibri (MS)"/>
                <a:sym typeface="Calibri (MS)"/>
              </a:rPr>
              <a:t>Iteratively evaluate features with model-based importance and validation metrics; keep those that improve holdout performance and business interpretability.</a:t>
            </a:r>
          </a:p>
          <a:p>
            <a:pPr algn="l">
              <a:lnSpc>
                <a:spcPts val="4319"/>
              </a:lnSpc>
            </a:pP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707044" y="1531952"/>
            <a:ext cx="10873912" cy="1933256"/>
            <a:chOff x="0" y="0"/>
            <a:chExt cx="14498550" cy="2577674"/>
          </a:xfrm>
        </p:grpSpPr>
        <p:sp>
          <p:nvSpPr>
            <p:cNvPr name="Freeform 13" id="13"/>
            <p:cNvSpPr/>
            <p:nvPr/>
          </p:nvSpPr>
          <p:spPr>
            <a:xfrm flipH="false" flipV="false" rot="0">
              <a:off x="0" y="0"/>
              <a:ext cx="14498549" cy="2577674"/>
            </a:xfrm>
            <a:custGeom>
              <a:avLst/>
              <a:gdLst/>
              <a:ahLst/>
              <a:cxnLst/>
              <a:rect r="r" b="b" t="t" l="l"/>
              <a:pathLst>
                <a:path h="2577674" w="14498549">
                  <a:moveTo>
                    <a:pt x="0" y="0"/>
                  </a:moveTo>
                  <a:lnTo>
                    <a:pt x="14498549" y="0"/>
                  </a:lnTo>
                  <a:lnTo>
                    <a:pt x="14498549" y="2577674"/>
                  </a:lnTo>
                  <a:lnTo>
                    <a:pt x="0" y="2577674"/>
                  </a:lnTo>
                  <a:close/>
                </a:path>
              </a:pathLst>
            </a:custGeom>
            <a:solidFill>
              <a:srgbClr val="000000">
                <a:alpha val="0"/>
              </a:srgbClr>
            </a:solidFill>
          </p:spPr>
        </p:sp>
        <p:sp>
          <p:nvSpPr>
            <p:cNvPr name="TextBox 14" id="14"/>
            <p:cNvSpPr txBox="true"/>
            <p:nvPr/>
          </p:nvSpPr>
          <p:spPr>
            <a:xfrm>
              <a:off x="0" y="-428625"/>
              <a:ext cx="14498550" cy="3006299"/>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Model Development </a:t>
              </a:r>
            </a:p>
          </p:txBody>
        </p:sp>
      </p:grpSp>
      <p:sp>
        <p:nvSpPr>
          <p:cNvPr name="TextBox 15" id="15"/>
          <p:cNvSpPr txBox="true"/>
          <p:nvPr/>
        </p:nvSpPr>
        <p:spPr>
          <a:xfrm rot="0">
            <a:off x="2588621" y="3393185"/>
            <a:ext cx="13110758" cy="5865115"/>
          </a:xfrm>
          <a:prstGeom prst="rect">
            <a:avLst/>
          </a:prstGeom>
        </p:spPr>
        <p:txBody>
          <a:bodyPr anchor="t" rtlCol="false" tIns="0" lIns="0" bIns="0" rIns="0">
            <a:spAutoFit/>
          </a:bodyPr>
          <a:lstStyle/>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Baseline:</a:t>
            </a:r>
            <a:r>
              <a:rPr lang="en-US" sz="3199">
                <a:solidFill>
                  <a:srgbClr val="FFFFFF"/>
                </a:solidFill>
                <a:latin typeface="Calibri (MS)"/>
                <a:ea typeface="Calibri (MS)"/>
                <a:cs typeface="Calibri (MS)"/>
                <a:sym typeface="Calibri (MS)"/>
              </a:rPr>
              <a:t> Logistic Regression (interpretable).</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Tree-based:</a:t>
            </a:r>
            <a:r>
              <a:rPr lang="en-US" sz="3199">
                <a:solidFill>
                  <a:srgbClr val="FFFFFF"/>
                </a:solidFill>
                <a:latin typeface="Calibri (MS)"/>
                <a:ea typeface="Calibri (MS)"/>
                <a:cs typeface="Calibri (MS)"/>
                <a:sym typeface="Calibri (MS)"/>
              </a:rPr>
              <a:t> Decision Tree, Random Forest.</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Boosted trees:</a:t>
            </a:r>
            <a:r>
              <a:rPr lang="en-US" sz="3199">
                <a:solidFill>
                  <a:srgbClr val="FFFFFF"/>
                </a:solidFill>
                <a:latin typeface="Calibri (MS)"/>
                <a:ea typeface="Calibri (MS)"/>
                <a:cs typeface="Calibri (MS)"/>
                <a:sym typeface="Calibri (MS)"/>
              </a:rPr>
              <a:t> LightGBM (recommended for performance/efficiency).</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Optional advanced:</a:t>
            </a:r>
            <a:r>
              <a:rPr lang="en-US" sz="3199">
                <a:solidFill>
                  <a:srgbClr val="FFFFFF"/>
                </a:solidFill>
                <a:latin typeface="Calibri (MS)"/>
                <a:ea typeface="Calibri (MS)"/>
                <a:cs typeface="Calibri (MS)"/>
                <a:sym typeface="Calibri (MS)"/>
              </a:rPr>
              <a:t> XGBoost, CatBoost, or simple neural network if beneficial.</a:t>
            </a:r>
          </a:p>
          <a:p>
            <a:pPr algn="ctr">
              <a:lnSpc>
                <a:spcPts val="4607"/>
              </a:lnSpc>
            </a:pPr>
          </a:p>
          <a:p>
            <a:pPr algn="ctr">
              <a:lnSpc>
                <a:spcPts val="4607"/>
              </a:lnSpc>
            </a:pP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707044" y="1531952"/>
            <a:ext cx="10873912" cy="1933256"/>
            <a:chOff x="0" y="0"/>
            <a:chExt cx="14498550" cy="2577674"/>
          </a:xfrm>
        </p:grpSpPr>
        <p:sp>
          <p:nvSpPr>
            <p:cNvPr name="Freeform 13" id="13"/>
            <p:cNvSpPr/>
            <p:nvPr/>
          </p:nvSpPr>
          <p:spPr>
            <a:xfrm flipH="false" flipV="false" rot="0">
              <a:off x="0" y="0"/>
              <a:ext cx="14498549" cy="2577674"/>
            </a:xfrm>
            <a:custGeom>
              <a:avLst/>
              <a:gdLst/>
              <a:ahLst/>
              <a:cxnLst/>
              <a:rect r="r" b="b" t="t" l="l"/>
              <a:pathLst>
                <a:path h="2577674" w="14498549">
                  <a:moveTo>
                    <a:pt x="0" y="0"/>
                  </a:moveTo>
                  <a:lnTo>
                    <a:pt x="14498549" y="0"/>
                  </a:lnTo>
                  <a:lnTo>
                    <a:pt x="14498549" y="2577674"/>
                  </a:lnTo>
                  <a:lnTo>
                    <a:pt x="0" y="2577674"/>
                  </a:lnTo>
                  <a:close/>
                </a:path>
              </a:pathLst>
            </a:custGeom>
            <a:solidFill>
              <a:srgbClr val="000000">
                <a:alpha val="0"/>
              </a:srgbClr>
            </a:solidFill>
          </p:spPr>
        </p:sp>
        <p:sp>
          <p:nvSpPr>
            <p:cNvPr name="TextBox 14" id="14"/>
            <p:cNvSpPr txBox="true"/>
            <p:nvPr/>
          </p:nvSpPr>
          <p:spPr>
            <a:xfrm>
              <a:off x="0" y="-428625"/>
              <a:ext cx="14498550" cy="3006299"/>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Model Development </a:t>
              </a:r>
            </a:p>
          </p:txBody>
        </p:sp>
      </p:grpSp>
      <p:sp>
        <p:nvSpPr>
          <p:cNvPr name="TextBox 15" id="15"/>
          <p:cNvSpPr txBox="true"/>
          <p:nvPr/>
        </p:nvSpPr>
        <p:spPr>
          <a:xfrm rot="0">
            <a:off x="2607671" y="3646332"/>
            <a:ext cx="13110758" cy="4932046"/>
          </a:xfrm>
          <a:prstGeom prst="rect">
            <a:avLst/>
          </a:prstGeom>
        </p:spPr>
        <p:txBody>
          <a:bodyPr anchor="t" rtlCol="false" tIns="0" lIns="0" bIns="0" rIns="0">
            <a:spAutoFit/>
          </a:bodyPr>
          <a:lstStyle/>
          <a:p>
            <a:pPr algn="ctr">
              <a:lnSpc>
                <a:spcPts val="5471"/>
              </a:lnSpc>
            </a:pPr>
            <a:r>
              <a:rPr lang="en-US" b="true" sz="3799">
                <a:solidFill>
                  <a:srgbClr val="FFFFFF"/>
                </a:solidFill>
                <a:latin typeface="Calibri (MS) Bold"/>
                <a:ea typeface="Calibri (MS) Bold"/>
                <a:cs typeface="Calibri (MS) Bold"/>
                <a:sym typeface="Calibri (MS) Bold"/>
              </a:rPr>
              <a:t> </a:t>
            </a:r>
            <a:r>
              <a:rPr lang="en-US" b="true" sz="3799">
                <a:solidFill>
                  <a:srgbClr val="FFFFFF"/>
                </a:solidFill>
                <a:latin typeface="Calibri (MS) Bold"/>
                <a:ea typeface="Calibri (MS) Bold"/>
                <a:cs typeface="Calibri (MS) Bold"/>
                <a:sym typeface="Calibri (MS) Bold"/>
              </a:rPr>
              <a:t>TR</a:t>
            </a:r>
            <a:r>
              <a:rPr lang="en-US" b="true" sz="3799">
                <a:solidFill>
                  <a:srgbClr val="FFFFFF"/>
                </a:solidFill>
                <a:latin typeface="Calibri (MS) Bold"/>
                <a:ea typeface="Calibri (MS) Bold"/>
                <a:cs typeface="Calibri (MS) Bold"/>
                <a:sym typeface="Calibri (MS) Bold"/>
              </a:rPr>
              <a:t>AINING DETAILS:</a:t>
            </a:r>
          </a:p>
          <a:p>
            <a:pPr algn="ctr">
              <a:lnSpc>
                <a:spcPts val="5615"/>
              </a:lnSpc>
            </a:pPr>
          </a:p>
          <a:p>
            <a:pPr algn="ctr">
              <a:lnSpc>
                <a:spcPts val="4607"/>
              </a:lnSpc>
            </a:pPr>
            <a:r>
              <a:rPr lang="en-US" sz="3199">
                <a:solidFill>
                  <a:srgbClr val="FFFFFF"/>
                </a:solidFill>
                <a:latin typeface="Calibri (MS)"/>
                <a:ea typeface="Calibri (MS)"/>
                <a:cs typeface="Calibri (MS)"/>
                <a:sym typeface="Calibri (MS)"/>
              </a:rPr>
              <a:t>Use k-fold cross validation (stratified) for robust estimates.</a:t>
            </a:r>
          </a:p>
          <a:p>
            <a:pPr algn="ctr">
              <a:lnSpc>
                <a:spcPts val="4607"/>
              </a:lnSpc>
            </a:pPr>
            <a:r>
              <a:rPr lang="en-US" sz="3199">
                <a:solidFill>
                  <a:srgbClr val="FFFFFF"/>
                </a:solidFill>
                <a:latin typeface="Calibri (MS)"/>
                <a:ea typeface="Calibri (MS)"/>
                <a:cs typeface="Calibri (MS)"/>
                <a:sym typeface="Calibri (MS)"/>
              </a:rPr>
              <a:t>T</a:t>
            </a:r>
            <a:r>
              <a:rPr lang="en-US" sz="3199">
                <a:solidFill>
                  <a:srgbClr val="FFFFFF"/>
                </a:solidFill>
                <a:latin typeface="Calibri (MS)"/>
                <a:ea typeface="Calibri (MS)"/>
                <a:cs typeface="Calibri (MS)"/>
                <a:sym typeface="Calibri (MS)"/>
              </a:rPr>
              <a:t>un</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 hyp</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rpar</a:t>
            </a:r>
            <a:r>
              <a:rPr lang="en-US" sz="3199">
                <a:solidFill>
                  <a:srgbClr val="FFFFFF"/>
                </a:solidFill>
                <a:latin typeface="Calibri (MS)"/>
                <a:ea typeface="Calibri (MS)"/>
                <a:cs typeface="Calibri (MS)"/>
                <a:sym typeface="Calibri (MS)"/>
              </a:rPr>
              <a:t>a</a:t>
            </a:r>
            <a:r>
              <a:rPr lang="en-US" sz="3199">
                <a:solidFill>
                  <a:srgbClr val="FFFFFF"/>
                </a:solidFill>
                <a:latin typeface="Calibri (MS)"/>
                <a:ea typeface="Calibri (MS)"/>
                <a:cs typeface="Calibri (MS)"/>
                <a:sym typeface="Calibri (MS)"/>
              </a:rPr>
              <a:t>m</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ters with randomized search or Bayesian optimizati</a:t>
            </a:r>
            <a:r>
              <a:rPr lang="en-US" sz="3199">
                <a:solidFill>
                  <a:srgbClr val="FFFFFF"/>
                </a:solidFill>
                <a:latin typeface="Calibri (MS)"/>
                <a:ea typeface="Calibri (MS)"/>
                <a:cs typeface="Calibri (MS)"/>
                <a:sym typeface="Calibri (MS)"/>
              </a:rPr>
              <a:t>o</a:t>
            </a:r>
            <a:r>
              <a:rPr lang="en-US" sz="3199">
                <a:solidFill>
                  <a:srgbClr val="FFFFFF"/>
                </a:solidFill>
                <a:latin typeface="Calibri (MS)"/>
                <a:ea typeface="Calibri (MS)"/>
                <a:cs typeface="Calibri (MS)"/>
                <a:sym typeface="Calibri (MS)"/>
              </a:rPr>
              <a:t>n</a:t>
            </a:r>
            <a:r>
              <a:rPr lang="en-US" sz="3199">
                <a:solidFill>
                  <a:srgbClr val="FFFFFF"/>
                </a:solidFill>
                <a:latin typeface="Calibri (MS)"/>
                <a:ea typeface="Calibri (MS)"/>
                <a:cs typeface="Calibri (MS)"/>
                <a:sym typeface="Calibri (MS)"/>
              </a:rPr>
              <a:t> </a:t>
            </a:r>
            <a:r>
              <a:rPr lang="en-US" sz="3199">
                <a:solidFill>
                  <a:srgbClr val="FFFFFF"/>
                </a:solidFill>
                <a:latin typeface="Calibri (MS)"/>
                <a:ea typeface="Calibri (MS)"/>
                <a:cs typeface="Calibri (MS)"/>
                <a:sym typeface="Calibri (MS)"/>
              </a:rPr>
              <a:t>(</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.g., l</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arning rate, num_leaves, max_depth for LightGBM).</a:t>
            </a:r>
          </a:p>
          <a:p>
            <a:pPr algn="ctr">
              <a:lnSpc>
                <a:spcPts val="4607"/>
              </a:lnSpc>
            </a:pPr>
            <a:r>
              <a:rPr lang="en-US" sz="3199">
                <a:solidFill>
                  <a:srgbClr val="FFFFFF"/>
                </a:solidFill>
                <a:latin typeface="Calibri (MS)"/>
                <a:ea typeface="Calibri (MS)"/>
                <a:cs typeface="Calibri (MS)"/>
                <a:sym typeface="Calibri (MS)"/>
              </a:rPr>
              <a:t>Ha</a:t>
            </a:r>
            <a:r>
              <a:rPr lang="en-US" sz="3199">
                <a:solidFill>
                  <a:srgbClr val="FFFFFF"/>
                </a:solidFill>
                <a:latin typeface="Calibri (MS)"/>
                <a:ea typeface="Calibri (MS)"/>
                <a:cs typeface="Calibri (MS)"/>
                <a:sym typeface="Calibri (MS)"/>
              </a:rPr>
              <a:t>n</a:t>
            </a:r>
            <a:r>
              <a:rPr lang="en-US" sz="3199">
                <a:solidFill>
                  <a:srgbClr val="FFFFFF"/>
                </a:solidFill>
                <a:latin typeface="Calibri (MS)"/>
                <a:ea typeface="Calibri (MS)"/>
                <a:cs typeface="Calibri (MS)"/>
                <a:sym typeface="Calibri (MS)"/>
              </a:rPr>
              <a:t>d</a:t>
            </a:r>
            <a:r>
              <a:rPr lang="en-US" sz="3199">
                <a:solidFill>
                  <a:srgbClr val="FFFFFF"/>
                </a:solidFill>
                <a:latin typeface="Calibri (MS)"/>
                <a:ea typeface="Calibri (MS)"/>
                <a:cs typeface="Calibri (MS)"/>
                <a:sym typeface="Calibri (MS)"/>
              </a:rPr>
              <a:t>l</a:t>
            </a:r>
            <a:r>
              <a:rPr lang="en-US" sz="3199">
                <a:solidFill>
                  <a:srgbClr val="FFFFFF"/>
                </a:solidFill>
                <a:latin typeface="Calibri (MS)"/>
                <a:ea typeface="Calibri (MS)"/>
                <a:cs typeface="Calibri (MS)"/>
                <a:sym typeface="Calibri (MS)"/>
              </a:rPr>
              <a:t>e</a:t>
            </a:r>
            <a:r>
              <a:rPr lang="en-US" sz="3199">
                <a:solidFill>
                  <a:srgbClr val="FFFFFF"/>
                </a:solidFill>
                <a:latin typeface="Calibri (MS)"/>
                <a:ea typeface="Calibri (MS)"/>
                <a:cs typeface="Calibri (MS)"/>
                <a:sym typeface="Calibri (MS)"/>
              </a:rPr>
              <a:t> </a:t>
            </a:r>
            <a:r>
              <a:rPr lang="en-US" sz="3199">
                <a:solidFill>
                  <a:srgbClr val="FFFFFF"/>
                </a:solidFill>
                <a:latin typeface="Calibri (MS)"/>
                <a:ea typeface="Calibri (MS)"/>
                <a:cs typeface="Calibri (MS)"/>
                <a:sym typeface="Calibri (MS)"/>
              </a:rPr>
              <a:t>cl</a:t>
            </a:r>
            <a:r>
              <a:rPr lang="en-US" sz="3199">
                <a:solidFill>
                  <a:srgbClr val="FFFFFF"/>
                </a:solidFill>
                <a:latin typeface="Calibri (MS)"/>
                <a:ea typeface="Calibri (MS)"/>
                <a:cs typeface="Calibri (MS)"/>
                <a:sym typeface="Calibri (MS)"/>
              </a:rPr>
              <a:t>a</a:t>
            </a:r>
            <a:r>
              <a:rPr lang="en-US" sz="3199">
                <a:solidFill>
                  <a:srgbClr val="FFFFFF"/>
                </a:solidFill>
                <a:latin typeface="Calibri (MS)"/>
                <a:ea typeface="Calibri (MS)"/>
                <a:cs typeface="Calibri (MS)"/>
                <a:sym typeface="Calibri (MS)"/>
              </a:rPr>
              <a:t>ss imbal</a:t>
            </a:r>
            <a:r>
              <a:rPr lang="en-US" sz="3199">
                <a:solidFill>
                  <a:srgbClr val="FFFFFF"/>
                </a:solidFill>
                <a:latin typeface="Calibri (MS)"/>
                <a:ea typeface="Calibri (MS)"/>
                <a:cs typeface="Calibri (MS)"/>
                <a:sym typeface="Calibri (MS)"/>
              </a:rPr>
              <a:t>ance:</a:t>
            </a:r>
            <a:r>
              <a:rPr lang="en-US" sz="3199">
                <a:solidFill>
                  <a:srgbClr val="FFFFFF"/>
                </a:solidFill>
                <a:latin typeface="Calibri (MS)"/>
                <a:ea typeface="Calibri (MS)"/>
                <a:cs typeface="Calibri (MS)"/>
                <a:sym typeface="Calibri (MS)"/>
              </a:rPr>
              <a:t> try class weighting, focal loss, or sampling (SMOTE) and compare.</a:t>
            </a:r>
          </a:p>
          <a:p>
            <a:pPr algn="ctr">
              <a:lnSpc>
                <a:spcPts val="4607"/>
              </a:lnSpc>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707044" y="1476781"/>
            <a:ext cx="10873912" cy="1933256"/>
            <a:chOff x="0" y="0"/>
            <a:chExt cx="14498550" cy="2577674"/>
          </a:xfrm>
        </p:grpSpPr>
        <p:sp>
          <p:nvSpPr>
            <p:cNvPr name="Freeform 13" id="13"/>
            <p:cNvSpPr/>
            <p:nvPr/>
          </p:nvSpPr>
          <p:spPr>
            <a:xfrm flipH="false" flipV="false" rot="0">
              <a:off x="0" y="0"/>
              <a:ext cx="14498549" cy="2577674"/>
            </a:xfrm>
            <a:custGeom>
              <a:avLst/>
              <a:gdLst/>
              <a:ahLst/>
              <a:cxnLst/>
              <a:rect r="r" b="b" t="t" l="l"/>
              <a:pathLst>
                <a:path h="2577674" w="14498549">
                  <a:moveTo>
                    <a:pt x="0" y="0"/>
                  </a:moveTo>
                  <a:lnTo>
                    <a:pt x="14498549" y="0"/>
                  </a:lnTo>
                  <a:lnTo>
                    <a:pt x="14498549" y="2577674"/>
                  </a:lnTo>
                  <a:lnTo>
                    <a:pt x="0" y="2577674"/>
                  </a:lnTo>
                  <a:close/>
                </a:path>
              </a:pathLst>
            </a:custGeom>
            <a:solidFill>
              <a:srgbClr val="000000">
                <a:alpha val="0"/>
              </a:srgbClr>
            </a:solidFill>
          </p:spPr>
        </p:sp>
        <p:sp>
          <p:nvSpPr>
            <p:cNvPr name="TextBox 14" id="14"/>
            <p:cNvSpPr txBox="true"/>
            <p:nvPr/>
          </p:nvSpPr>
          <p:spPr>
            <a:xfrm>
              <a:off x="0" y="-428625"/>
              <a:ext cx="14498550" cy="3006299"/>
            </a:xfrm>
            <a:prstGeom prst="rect">
              <a:avLst/>
            </a:prstGeom>
          </p:spPr>
          <p:txBody>
            <a:bodyPr anchor="b" rtlCol="false" tIns="0" lIns="0" bIns="0" rIns="0"/>
            <a:lstStyle/>
            <a:p>
              <a:pPr algn="ctr">
                <a:lnSpc>
                  <a:spcPts val="13823"/>
                </a:lnSpc>
              </a:pPr>
              <a:r>
                <a:rPr lang="en-US" sz="9599" b="true">
                  <a:solidFill>
                    <a:srgbClr val="FFFFFF"/>
                  </a:solidFill>
                  <a:latin typeface="Calibri (MS) Bold"/>
                  <a:ea typeface="Calibri (MS) Bold"/>
                  <a:cs typeface="Calibri (MS) Bold"/>
                  <a:sym typeface="Calibri (MS) Bold"/>
                </a:rPr>
                <a:t>Evaluation </a:t>
              </a:r>
            </a:p>
          </p:txBody>
        </p:sp>
      </p:grpSp>
      <p:sp>
        <p:nvSpPr>
          <p:cNvPr name="TextBox 15" id="15"/>
          <p:cNvSpPr txBox="true"/>
          <p:nvPr/>
        </p:nvSpPr>
        <p:spPr>
          <a:xfrm rot="0">
            <a:off x="2588621" y="3655857"/>
            <a:ext cx="13110758" cy="5865115"/>
          </a:xfrm>
          <a:prstGeom prst="rect">
            <a:avLst/>
          </a:prstGeom>
        </p:spPr>
        <p:txBody>
          <a:bodyPr anchor="t" rtlCol="false" tIns="0" lIns="0" bIns="0" rIns="0">
            <a:spAutoFit/>
          </a:bodyPr>
          <a:lstStyle/>
          <a:p>
            <a:pPr algn="ctr">
              <a:lnSpc>
                <a:spcPts val="4607"/>
              </a:lnSpc>
            </a:pPr>
            <a:r>
              <a:rPr lang="en-US" sz="3199" b="true">
                <a:solidFill>
                  <a:srgbClr val="FFFFFF"/>
                </a:solidFill>
                <a:latin typeface="Calibri (MS) Bold"/>
                <a:ea typeface="Calibri (MS) Bold"/>
                <a:cs typeface="Calibri (MS) Bold"/>
                <a:sym typeface="Calibri (MS) Bold"/>
              </a:rPr>
              <a:t>Primary metrics:</a:t>
            </a:r>
            <a:r>
              <a:rPr lang="en-US" sz="3199">
                <a:solidFill>
                  <a:srgbClr val="FFFFFF"/>
                </a:solidFill>
                <a:latin typeface="Calibri (MS)"/>
                <a:ea typeface="Calibri (MS)"/>
                <a:cs typeface="Calibri (MS)"/>
                <a:sym typeface="Calibri (MS)"/>
              </a:rPr>
              <a:t> Precision, Recall, F1 for the churn class (because false negatives — missed churners — are costly). AUC for global ranking.</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Confusion matrix</a:t>
            </a:r>
            <a:r>
              <a:rPr lang="en-US" sz="3199">
                <a:solidFill>
                  <a:srgbClr val="FFFFFF"/>
                </a:solidFill>
                <a:latin typeface="Calibri (MS)"/>
                <a:ea typeface="Calibri (MS)"/>
                <a:cs typeface="Calibri (MS)"/>
                <a:sym typeface="Calibri (MS)"/>
              </a:rPr>
              <a:t> to inspect tradeoffs.</a:t>
            </a:r>
          </a:p>
          <a:p>
            <a:pPr algn="ctr">
              <a:lnSpc>
                <a:spcPts val="4607"/>
              </a:lnSpc>
            </a:pPr>
          </a:p>
          <a:p>
            <a:pPr algn="ctr">
              <a:lnSpc>
                <a:spcPts val="4607"/>
              </a:lnSpc>
            </a:pPr>
            <a:r>
              <a:rPr lang="en-US" sz="3199" b="true">
                <a:solidFill>
                  <a:srgbClr val="FFFFFF"/>
                </a:solidFill>
                <a:latin typeface="Calibri (MS) Bold"/>
                <a:ea typeface="Calibri (MS) Bold"/>
                <a:cs typeface="Calibri (MS) Bold"/>
                <a:sym typeface="Calibri (MS) Bold"/>
              </a:rPr>
              <a:t>Business metric:</a:t>
            </a:r>
            <a:r>
              <a:rPr lang="en-US" sz="3199">
                <a:solidFill>
                  <a:srgbClr val="FFFFFF"/>
                </a:solidFill>
                <a:latin typeface="Calibri (MS)"/>
                <a:ea typeface="Calibri (MS)"/>
                <a:cs typeface="Calibri (MS)"/>
                <a:sym typeface="Calibri (MS)"/>
              </a:rPr>
              <a:t> estimate cost of false positives (unneeded retention expense) vs false negatives (lost revenue) and choose an operating point.</a:t>
            </a:r>
          </a:p>
          <a:p>
            <a:pPr algn="ctr">
              <a:lnSpc>
                <a:spcPts val="4607"/>
              </a:lnSpc>
            </a:pPr>
          </a:p>
          <a:p>
            <a:pPr algn="ctr">
              <a:lnSpc>
                <a:spcPts val="4607"/>
              </a:lnSpc>
            </a:pPr>
            <a:r>
              <a:rPr lang="en-US" sz="3199">
                <a:solidFill>
                  <a:srgbClr val="FFFFFF"/>
                </a:solidFill>
                <a:latin typeface="Calibri (MS)"/>
                <a:ea typeface="Calibri (MS)"/>
                <a:cs typeface="Calibri (MS)"/>
                <a:sym typeface="Calibri (MS)"/>
              </a:rPr>
              <a:t>Usage the holdout test set for final reporting.</a:t>
            </a:r>
          </a:p>
          <a:p>
            <a:pPr algn="ctr">
              <a:lnSpc>
                <a:spcPts val="4607"/>
              </a:lnSpc>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5335" t="21064" r="-45724" b="-151021"/>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18349" t="-45779" r="-337186" b="-8859"/>
              </a:stretch>
            </a:blipFill>
          </p:spPr>
        </p:sp>
      </p:grpSp>
      <p:sp>
        <p:nvSpPr>
          <p:cNvPr name="Freeform 10" id="10"/>
          <p:cNvSpPr/>
          <p:nvPr/>
        </p:nvSpPr>
        <p:spPr>
          <a:xfrm flipH="false" flipV="false" rot="0">
            <a:off x="1621440" y="-3779280"/>
            <a:ext cx="4858560" cy="4857840"/>
          </a:xfrm>
          <a:custGeom>
            <a:avLst/>
            <a:gdLst/>
            <a:ahLst/>
            <a:cxnLst/>
            <a:rect r="r" b="b" t="t" l="l"/>
            <a:pathLst>
              <a:path h="4857840" w="4858560">
                <a:moveTo>
                  <a:pt x="0" y="0"/>
                </a:moveTo>
                <a:lnTo>
                  <a:pt x="4858560" y="0"/>
                </a:lnTo>
                <a:lnTo>
                  <a:pt x="4858560" y="4857840"/>
                </a:lnTo>
                <a:lnTo>
                  <a:pt x="0" y="48578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702230" y="862383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456333" y="1317212"/>
            <a:ext cx="13375334" cy="1933256"/>
            <a:chOff x="0" y="0"/>
            <a:chExt cx="17833778" cy="2577674"/>
          </a:xfrm>
        </p:grpSpPr>
        <p:sp>
          <p:nvSpPr>
            <p:cNvPr name="Freeform 13" id="13"/>
            <p:cNvSpPr/>
            <p:nvPr/>
          </p:nvSpPr>
          <p:spPr>
            <a:xfrm flipH="false" flipV="false" rot="0">
              <a:off x="0" y="0"/>
              <a:ext cx="17833778" cy="2577674"/>
            </a:xfrm>
            <a:custGeom>
              <a:avLst/>
              <a:gdLst/>
              <a:ahLst/>
              <a:cxnLst/>
              <a:rect r="r" b="b" t="t" l="l"/>
              <a:pathLst>
                <a:path h="2577674" w="17833778">
                  <a:moveTo>
                    <a:pt x="0" y="0"/>
                  </a:moveTo>
                  <a:lnTo>
                    <a:pt x="17833778" y="0"/>
                  </a:lnTo>
                  <a:lnTo>
                    <a:pt x="17833778" y="2577674"/>
                  </a:lnTo>
                  <a:lnTo>
                    <a:pt x="0" y="2577674"/>
                  </a:lnTo>
                  <a:close/>
                </a:path>
              </a:pathLst>
            </a:custGeom>
            <a:solidFill>
              <a:srgbClr val="000000">
                <a:alpha val="0"/>
              </a:srgbClr>
            </a:solidFill>
          </p:spPr>
        </p:sp>
        <p:sp>
          <p:nvSpPr>
            <p:cNvPr name="TextBox 14" id="14"/>
            <p:cNvSpPr txBox="true"/>
            <p:nvPr/>
          </p:nvSpPr>
          <p:spPr>
            <a:xfrm>
              <a:off x="0" y="-409575"/>
              <a:ext cx="17833778" cy="2987249"/>
            </a:xfrm>
            <a:prstGeom prst="rect">
              <a:avLst/>
            </a:prstGeom>
          </p:spPr>
          <p:txBody>
            <a:bodyPr anchor="b" rtlCol="false" tIns="0" lIns="0" bIns="0" rIns="0"/>
            <a:lstStyle/>
            <a:p>
              <a:pPr algn="ctr">
                <a:lnSpc>
                  <a:spcPts val="13679"/>
                </a:lnSpc>
              </a:pPr>
              <a:r>
                <a:rPr lang="en-US" sz="9499" b="true">
                  <a:solidFill>
                    <a:srgbClr val="FFFFFF"/>
                  </a:solidFill>
                  <a:latin typeface="Calibri (MS) Bold"/>
                  <a:ea typeface="Calibri (MS) Bold"/>
                  <a:cs typeface="Calibri (MS) Bold"/>
                  <a:sym typeface="Calibri (MS) Bold"/>
                </a:rPr>
                <a:t>Interpretability &amp; Insights</a:t>
              </a:r>
            </a:p>
          </p:txBody>
        </p:sp>
      </p:grpSp>
      <p:sp>
        <p:nvSpPr>
          <p:cNvPr name="TextBox 15" id="15"/>
          <p:cNvSpPr txBox="true"/>
          <p:nvPr/>
        </p:nvSpPr>
        <p:spPr>
          <a:xfrm rot="0">
            <a:off x="2588621" y="3498118"/>
            <a:ext cx="13110758" cy="6220588"/>
          </a:xfrm>
          <a:prstGeom prst="rect">
            <a:avLst/>
          </a:prstGeom>
        </p:spPr>
        <p:txBody>
          <a:bodyPr anchor="t" rtlCol="false" tIns="0" lIns="0" bIns="0" rIns="0">
            <a:spAutoFit/>
          </a:bodyPr>
          <a:lstStyle/>
          <a:p>
            <a:pPr algn="ctr">
              <a:lnSpc>
                <a:spcPts val="4463"/>
              </a:lnSpc>
            </a:pPr>
            <a:r>
              <a:rPr lang="en-US" sz="3099" b="true">
                <a:solidFill>
                  <a:srgbClr val="FFFFFF"/>
                </a:solidFill>
                <a:latin typeface="Calibri (MS) Bold"/>
                <a:ea typeface="Calibri (MS) Bold"/>
                <a:cs typeface="Calibri (MS) Bold"/>
                <a:sym typeface="Calibri (MS) Bold"/>
              </a:rPr>
              <a:t>Global importance:</a:t>
            </a:r>
            <a:r>
              <a:rPr lang="en-US" sz="3099">
                <a:solidFill>
                  <a:srgbClr val="FFFFFF"/>
                </a:solidFill>
                <a:latin typeface="Calibri (MS)"/>
                <a:ea typeface="Calibri (MS)"/>
                <a:cs typeface="Calibri (MS)"/>
                <a:sym typeface="Calibri (MS)"/>
              </a:rPr>
              <a:t> feature importance (gain / permutation) and SHAP summary.</a:t>
            </a:r>
          </a:p>
          <a:p>
            <a:pPr algn="ctr">
              <a:lnSpc>
                <a:spcPts val="4463"/>
              </a:lnSpc>
            </a:pPr>
          </a:p>
          <a:p>
            <a:pPr algn="ctr">
              <a:lnSpc>
                <a:spcPts val="4463"/>
              </a:lnSpc>
            </a:pPr>
            <a:r>
              <a:rPr lang="en-US" sz="3099" b="true">
                <a:solidFill>
                  <a:srgbClr val="FFFFFF"/>
                </a:solidFill>
                <a:latin typeface="Calibri (MS) Bold"/>
                <a:ea typeface="Calibri (MS) Bold"/>
                <a:cs typeface="Calibri (MS) Bold"/>
                <a:sym typeface="Calibri (MS) Bold"/>
              </a:rPr>
              <a:t>Partial dependence</a:t>
            </a:r>
            <a:r>
              <a:rPr lang="en-US" sz="3099">
                <a:solidFill>
                  <a:srgbClr val="FFFFFF"/>
                </a:solidFill>
                <a:latin typeface="Calibri (MS)"/>
                <a:ea typeface="Calibri (MS)"/>
                <a:cs typeface="Calibri (MS)"/>
                <a:sym typeface="Calibri (MS)"/>
              </a:rPr>
              <a:t> plots for top features (show non-linear effects).</a:t>
            </a:r>
          </a:p>
          <a:p>
            <a:pPr algn="ctr">
              <a:lnSpc>
                <a:spcPts val="4463"/>
              </a:lnSpc>
            </a:pPr>
          </a:p>
          <a:p>
            <a:pPr algn="ctr">
              <a:lnSpc>
                <a:spcPts val="4463"/>
              </a:lnSpc>
            </a:pPr>
            <a:r>
              <a:rPr lang="en-US" sz="3099" b="true">
                <a:solidFill>
                  <a:srgbClr val="FFFFFF"/>
                </a:solidFill>
                <a:latin typeface="Calibri (MS) Bold"/>
                <a:ea typeface="Calibri (MS) Bold"/>
                <a:cs typeface="Calibri (MS) Bold"/>
                <a:sym typeface="Calibri (MS) Bold"/>
              </a:rPr>
              <a:t>Per-customer explanations:</a:t>
            </a:r>
            <a:r>
              <a:rPr lang="en-US" sz="3099">
                <a:solidFill>
                  <a:srgbClr val="FFFFFF"/>
                </a:solidFill>
                <a:latin typeface="Calibri (MS)"/>
                <a:ea typeface="Calibri (MS)"/>
                <a:cs typeface="Calibri (MS)"/>
                <a:sym typeface="Calibri (MS)"/>
              </a:rPr>
              <a:t> SHAP force plots or simple rule lists for top 100 high-risk customers to drive immediate outreach.</a:t>
            </a:r>
          </a:p>
          <a:p>
            <a:pPr algn="ctr">
              <a:lnSpc>
                <a:spcPts val="4463"/>
              </a:lnSpc>
            </a:pPr>
          </a:p>
          <a:p>
            <a:pPr algn="ctr">
              <a:lnSpc>
                <a:spcPts val="4463"/>
              </a:lnSpc>
            </a:pPr>
            <a:r>
              <a:rPr lang="en-US" sz="3099" b="true">
                <a:solidFill>
                  <a:srgbClr val="FFFFFF"/>
                </a:solidFill>
                <a:latin typeface="Calibri (MS) Bold"/>
                <a:ea typeface="Calibri (MS) Bold"/>
                <a:cs typeface="Calibri (MS) Bold"/>
                <a:sym typeface="Calibri (MS) Bold"/>
              </a:rPr>
              <a:t>Business translation:</a:t>
            </a:r>
            <a:r>
              <a:rPr lang="en-US" sz="3099">
                <a:solidFill>
                  <a:srgbClr val="FFFFFF"/>
                </a:solidFill>
                <a:latin typeface="Calibri (MS)"/>
                <a:ea typeface="Calibri (MS)"/>
                <a:cs typeface="Calibri (MS)"/>
                <a:sym typeface="Calibri (MS)"/>
              </a:rPr>
              <a:t> map model signals to recommended offers or processes (e.g., month-to-month customers with low tenure + multiple billing issues → targeted discount + longer contract offer).</a:t>
            </a:r>
          </a:p>
          <a:p>
            <a:pPr algn="ctr">
              <a:lnSpc>
                <a:spcPts val="4463"/>
              </a:lnSpc>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709231"/>
            <a:ext cx="14972400" cy="2119573"/>
            <a:chOff x="0" y="0"/>
            <a:chExt cx="19963200" cy="2826097"/>
          </a:xfrm>
        </p:grpSpPr>
        <p:sp>
          <p:nvSpPr>
            <p:cNvPr name="Freeform 12" id="12"/>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3" id="13"/>
            <p:cNvSpPr txBox="true"/>
            <p:nvPr/>
          </p:nvSpPr>
          <p:spPr>
            <a:xfrm>
              <a:off x="0" y="-266700"/>
              <a:ext cx="19963200" cy="3092797"/>
            </a:xfrm>
            <a:prstGeom prst="rect">
              <a:avLst/>
            </a:prstGeom>
          </p:spPr>
          <p:txBody>
            <a:bodyPr anchor="b" rtlCol="false" tIns="0" lIns="0" bIns="0" rIns="0"/>
            <a:lstStyle/>
            <a:p>
              <a:pPr algn="ctr">
                <a:lnSpc>
                  <a:spcPts val="13824"/>
                </a:lnSpc>
              </a:pPr>
              <a:r>
                <a:rPr lang="en-US" sz="9600" b="true">
                  <a:solidFill>
                    <a:srgbClr val="FFFFFF"/>
                  </a:solidFill>
                  <a:latin typeface="Arimo Bold"/>
                  <a:ea typeface="Arimo Bold"/>
                  <a:cs typeface="Arimo Bold"/>
                  <a:sym typeface="Arimo Bold"/>
                </a:rPr>
                <a:t>Expected Outcomes</a:t>
              </a:r>
            </a:p>
          </p:txBody>
        </p:sp>
      </p:grpSp>
      <p:sp>
        <p:nvSpPr>
          <p:cNvPr name="Freeform 14" id="14"/>
          <p:cNvSpPr/>
          <p:nvPr/>
        </p:nvSpPr>
        <p:spPr>
          <a:xfrm flipH="false" flipV="false" rot="0">
            <a:off x="7579830" y="925830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670875" y="44517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a:off x="15580864" y="8377610"/>
            <a:ext cx="2396040" cy="1430520"/>
          </a:xfrm>
          <a:prstGeom prst="line">
            <a:avLst/>
          </a:prstGeom>
          <a:ln cap="rnd" w="28575">
            <a:solidFill>
              <a:srgbClr val="7E4FCF"/>
            </a:solidFill>
            <a:prstDash val="solid"/>
            <a:headEnd type="none" len="sm" w="sm"/>
            <a:tailEnd type="none" len="sm" w="sm"/>
          </a:ln>
        </p:spPr>
      </p:sp>
      <p:sp>
        <p:nvSpPr>
          <p:cNvPr name="AutoShape 17" id="17"/>
          <p:cNvSpPr/>
          <p:nvPr/>
        </p:nvSpPr>
        <p:spPr>
          <a:xfrm>
            <a:off x="15587002" y="8382395"/>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V="true">
            <a:off x="15585519" y="8055087"/>
            <a:ext cx="91068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939760" y="3192684"/>
            <a:ext cx="12408480" cy="6333363"/>
          </a:xfrm>
          <a:prstGeom prst="rect">
            <a:avLst/>
          </a:prstGeom>
        </p:spPr>
        <p:txBody>
          <a:bodyPr anchor="t" rtlCol="false" tIns="0" lIns="0" bIns="0" rIns="0">
            <a:spAutoFit/>
          </a:bodyPr>
          <a:lstStyle/>
          <a:p>
            <a:pPr algn="ctr">
              <a:lnSpc>
                <a:spcPts val="4536"/>
              </a:lnSpc>
            </a:pPr>
            <a:r>
              <a:rPr lang="en-US" sz="3150">
                <a:solidFill>
                  <a:srgbClr val="FFFFFF"/>
                </a:solidFill>
                <a:latin typeface="Calibri (MS)"/>
                <a:ea typeface="Calibri (MS)"/>
                <a:cs typeface="Calibri (MS)"/>
                <a:sym typeface="Calibri (MS)"/>
              </a:rPr>
              <a:t>A validated churn prediction model (Logistic baseline and best performing tree/LightGBM model).</a:t>
            </a:r>
          </a:p>
          <a:p>
            <a:pPr algn="ctr">
              <a:lnSpc>
                <a:spcPts val="4536"/>
              </a:lnSpc>
            </a:pPr>
          </a:p>
          <a:p>
            <a:pPr algn="ctr">
              <a:lnSpc>
                <a:spcPts val="4536"/>
              </a:lnSpc>
              <a:spcBef>
                <a:spcPct val="0"/>
              </a:spcBef>
            </a:pPr>
            <a:r>
              <a:rPr lang="en-US" sz="3150">
                <a:solidFill>
                  <a:srgbClr val="FFFFFF"/>
                </a:solidFill>
                <a:latin typeface="Calibri (MS)"/>
                <a:ea typeface="Calibri (MS)"/>
                <a:cs typeface="Calibri (MS)"/>
                <a:sym typeface="Calibri (MS)"/>
              </a:rPr>
              <a:t>Notebo</a:t>
            </a:r>
            <a:r>
              <a:rPr lang="en-US" sz="3150">
                <a:solidFill>
                  <a:srgbClr val="FFFFFF"/>
                </a:solidFill>
                <a:latin typeface="Calibri (MS)"/>
                <a:ea typeface="Calibri (MS)"/>
                <a:cs typeface="Calibri (MS)"/>
                <a:sym typeface="Calibri (MS)"/>
              </a:rPr>
              <a:t>ok(s) with reproducible EDA, preprocessing pipeline and model training code.</a:t>
            </a:r>
          </a:p>
          <a:p>
            <a:pPr algn="ctr">
              <a:lnSpc>
                <a:spcPts val="4536"/>
              </a:lnSpc>
              <a:spcBef>
                <a:spcPct val="0"/>
              </a:spcBef>
            </a:pPr>
          </a:p>
          <a:p>
            <a:pPr algn="ctr">
              <a:lnSpc>
                <a:spcPts val="4536"/>
              </a:lnSpc>
              <a:spcBef>
                <a:spcPct val="0"/>
              </a:spcBef>
            </a:pPr>
            <a:r>
              <a:rPr lang="en-US" sz="3150">
                <a:solidFill>
                  <a:srgbClr val="FFFFFF"/>
                </a:solidFill>
                <a:latin typeface="Calibri (MS)"/>
                <a:ea typeface="Calibri (MS)"/>
                <a:cs typeface="Calibri (MS)"/>
                <a:sym typeface="Calibri (MS)"/>
              </a:rPr>
              <a:t>A clear set of features driving churn and at least 3 prioritized business interventions (with estimated ROI or expected reduction in churn).</a:t>
            </a:r>
          </a:p>
          <a:p>
            <a:pPr algn="ctr">
              <a:lnSpc>
                <a:spcPts val="4536"/>
              </a:lnSpc>
              <a:spcBef>
                <a:spcPct val="0"/>
              </a:spcBef>
            </a:pPr>
            <a:r>
              <a:rPr lang="en-US" sz="3150">
                <a:solidFill>
                  <a:srgbClr val="FFFFFF"/>
                </a:solidFill>
                <a:latin typeface="Calibri (MS)"/>
                <a:ea typeface="Calibri (MS)"/>
                <a:cs typeface="Calibri (MS)"/>
                <a:sym typeface="Calibri (MS)"/>
              </a:rPr>
              <a:t>Per-customer risk list for targeted retention campaigns and a model-scoring pipeline specification for productionization.</a:t>
            </a:r>
          </a:p>
          <a:p>
            <a:pPr algn="ctr">
              <a:lnSpc>
                <a:spcPts val="4536"/>
              </a:lnSpc>
              <a:spcBef>
                <a:spcPct val="0"/>
              </a:spcBef>
            </a:pP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680656"/>
            <a:ext cx="14972400" cy="2119573"/>
            <a:chOff x="0" y="0"/>
            <a:chExt cx="19963200" cy="2826097"/>
          </a:xfrm>
        </p:grpSpPr>
        <p:sp>
          <p:nvSpPr>
            <p:cNvPr name="Freeform 12" id="12"/>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3" id="13"/>
            <p:cNvSpPr txBox="true"/>
            <p:nvPr/>
          </p:nvSpPr>
          <p:spPr>
            <a:xfrm>
              <a:off x="0" y="-247650"/>
              <a:ext cx="19963200" cy="3073747"/>
            </a:xfrm>
            <a:prstGeom prst="rect">
              <a:avLst/>
            </a:prstGeom>
          </p:spPr>
          <p:txBody>
            <a:bodyPr anchor="b" rtlCol="false" tIns="0" lIns="0" bIns="0" rIns="0"/>
            <a:lstStyle/>
            <a:p>
              <a:pPr algn="ctr">
                <a:lnSpc>
                  <a:spcPts val="13680"/>
                </a:lnSpc>
              </a:pPr>
              <a:r>
                <a:rPr lang="en-US" sz="9500" b="true">
                  <a:solidFill>
                    <a:srgbClr val="FFFFFF"/>
                  </a:solidFill>
                  <a:latin typeface="Arimo Bold"/>
                  <a:ea typeface="Arimo Bold"/>
                  <a:cs typeface="Arimo Bold"/>
                  <a:sym typeface="Arimo Bold"/>
                </a:rPr>
                <a:t>Tools &amp; Technologies</a:t>
              </a:r>
            </a:p>
          </p:txBody>
        </p:sp>
      </p:grpSp>
      <p:sp>
        <p:nvSpPr>
          <p:cNvPr name="Freeform 14" id="14"/>
          <p:cNvSpPr/>
          <p:nvPr/>
        </p:nvSpPr>
        <p:spPr>
          <a:xfrm flipH="false" flipV="false" rot="0">
            <a:off x="7579830" y="9379958"/>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670875" y="44517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a:off x="15580864" y="8377610"/>
            <a:ext cx="2396040" cy="1430520"/>
          </a:xfrm>
          <a:prstGeom prst="line">
            <a:avLst/>
          </a:prstGeom>
          <a:ln cap="rnd" w="28575">
            <a:solidFill>
              <a:srgbClr val="7E4FCF"/>
            </a:solidFill>
            <a:prstDash val="solid"/>
            <a:headEnd type="none" len="sm" w="sm"/>
            <a:tailEnd type="none" len="sm" w="sm"/>
          </a:ln>
        </p:spPr>
      </p:sp>
      <p:sp>
        <p:nvSpPr>
          <p:cNvPr name="AutoShape 17" id="17"/>
          <p:cNvSpPr/>
          <p:nvPr/>
        </p:nvSpPr>
        <p:spPr>
          <a:xfrm>
            <a:off x="15587002" y="8382395"/>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V="true">
            <a:off x="15585519" y="8055087"/>
            <a:ext cx="91068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939760" y="2800229"/>
            <a:ext cx="12408480" cy="6845808"/>
          </a:xfrm>
          <a:prstGeom prst="rect">
            <a:avLst/>
          </a:prstGeom>
        </p:spPr>
        <p:txBody>
          <a:bodyPr anchor="t" rtlCol="false" tIns="0" lIns="0" bIns="0" rIns="0">
            <a:spAutoFit/>
          </a:bodyPr>
          <a:lstStyle/>
          <a:p>
            <a:pPr algn="ctr">
              <a:lnSpc>
                <a:spcPts val="4176"/>
              </a:lnSpc>
            </a:pPr>
            <a:r>
              <a:rPr lang="en-US" sz="2900" b="true">
                <a:solidFill>
                  <a:srgbClr val="FFFFFF"/>
                </a:solidFill>
                <a:latin typeface="Calibri (MS) Bold"/>
                <a:ea typeface="Calibri (MS) Bold"/>
                <a:cs typeface="Calibri (MS) Bold"/>
                <a:sym typeface="Calibri (MS) Bold"/>
              </a:rPr>
              <a:t>Languages &amp; libraries:</a:t>
            </a:r>
            <a:r>
              <a:rPr lang="en-US" sz="2900">
                <a:solidFill>
                  <a:srgbClr val="FFFFFF"/>
                </a:solidFill>
                <a:latin typeface="Calibri (MS)"/>
                <a:ea typeface="Calibri (MS)"/>
                <a:cs typeface="Calibri (MS)"/>
                <a:sym typeface="Calibri (MS)"/>
              </a:rPr>
              <a:t> Python (pandas, numpy, scikit-learn, lightgbm, shap, matplotlib, seaborn).</a:t>
            </a:r>
          </a:p>
          <a:p>
            <a:pPr algn="ctr">
              <a:lnSpc>
                <a:spcPts val="4176"/>
              </a:lnSpc>
            </a:pPr>
          </a:p>
          <a:p>
            <a:pPr algn="ctr">
              <a:lnSpc>
                <a:spcPts val="4176"/>
              </a:lnSpc>
              <a:spcBef>
                <a:spcPct val="0"/>
              </a:spcBef>
            </a:pPr>
            <a:r>
              <a:rPr lang="en-US" b="true" sz="2900">
                <a:solidFill>
                  <a:srgbClr val="FFFFFF"/>
                </a:solidFill>
                <a:latin typeface="Calibri (MS) Bold"/>
                <a:ea typeface="Calibri (MS) Bold"/>
                <a:cs typeface="Calibri (MS) Bold"/>
                <a:sym typeface="Calibri (MS) Bold"/>
              </a:rPr>
              <a:t>Notebo</a:t>
            </a:r>
            <a:r>
              <a:rPr lang="en-US" b="true" sz="2900">
                <a:solidFill>
                  <a:srgbClr val="FFFFFF"/>
                </a:solidFill>
                <a:latin typeface="Calibri (MS) Bold"/>
                <a:ea typeface="Calibri (MS) Bold"/>
                <a:cs typeface="Calibri (MS) Bold"/>
                <a:sym typeface="Calibri (MS) Bold"/>
              </a:rPr>
              <a:t>ok:</a:t>
            </a:r>
            <a:r>
              <a:rPr lang="en-US" sz="2900">
                <a:solidFill>
                  <a:srgbClr val="FFFFFF"/>
                </a:solidFill>
                <a:latin typeface="Calibri (MS)"/>
                <a:ea typeface="Calibri (MS)"/>
                <a:cs typeface="Calibri (MS)"/>
                <a:sym typeface="Calibri (MS)"/>
              </a:rPr>
              <a:t> Jupyter / Colab for exploration and prototyping.</a:t>
            </a:r>
          </a:p>
          <a:p>
            <a:pPr algn="ctr">
              <a:lnSpc>
                <a:spcPts val="4176"/>
              </a:lnSpc>
              <a:spcBef>
                <a:spcPct val="0"/>
              </a:spcBef>
            </a:pPr>
          </a:p>
          <a:p>
            <a:pPr algn="ctr">
              <a:lnSpc>
                <a:spcPts val="4176"/>
              </a:lnSpc>
              <a:spcBef>
                <a:spcPct val="0"/>
              </a:spcBef>
            </a:pPr>
            <a:r>
              <a:rPr lang="en-US" sz="2900">
                <a:solidFill>
                  <a:srgbClr val="FFFFFF"/>
                </a:solidFill>
                <a:latin typeface="Calibri (MS)"/>
                <a:ea typeface="Calibri (MS)"/>
                <a:cs typeface="Calibri (MS)"/>
                <a:sym typeface="Calibri (MS)"/>
              </a:rPr>
              <a:t>Version control: Git/GitHub.</a:t>
            </a:r>
          </a:p>
          <a:p>
            <a:pPr algn="ctr">
              <a:lnSpc>
                <a:spcPts val="4176"/>
              </a:lnSpc>
              <a:spcBef>
                <a:spcPct val="0"/>
              </a:spcBef>
            </a:pPr>
          </a:p>
          <a:p>
            <a:pPr algn="ctr">
              <a:lnSpc>
                <a:spcPts val="4176"/>
              </a:lnSpc>
              <a:spcBef>
                <a:spcPct val="0"/>
              </a:spcBef>
            </a:pPr>
            <a:r>
              <a:rPr lang="en-US" b="true" sz="2900">
                <a:solidFill>
                  <a:srgbClr val="FFFFFF"/>
                </a:solidFill>
                <a:latin typeface="Calibri (MS) Bold"/>
                <a:ea typeface="Calibri (MS) Bold"/>
                <a:cs typeface="Calibri (MS) Bold"/>
                <a:sym typeface="Calibri (MS) Bold"/>
              </a:rPr>
              <a:t>Deployment (optional):</a:t>
            </a:r>
            <a:r>
              <a:rPr lang="en-US" sz="2900">
                <a:solidFill>
                  <a:srgbClr val="FFFFFF"/>
                </a:solidFill>
                <a:latin typeface="Calibri (MS)"/>
                <a:ea typeface="Calibri (MS)"/>
                <a:cs typeface="Calibri (MS)"/>
                <a:sym typeface="Calibri (MS)"/>
              </a:rPr>
              <a:t> Flask/FastAPI or a simple batch scoring script; containerize with Docker if productionizing.</a:t>
            </a:r>
          </a:p>
          <a:p>
            <a:pPr algn="ctr">
              <a:lnSpc>
                <a:spcPts val="4176"/>
              </a:lnSpc>
              <a:spcBef>
                <a:spcPct val="0"/>
              </a:spcBef>
            </a:pPr>
          </a:p>
          <a:p>
            <a:pPr algn="ctr">
              <a:lnSpc>
                <a:spcPts val="4176"/>
              </a:lnSpc>
              <a:spcBef>
                <a:spcPct val="0"/>
              </a:spcBef>
            </a:pPr>
            <a:r>
              <a:rPr lang="en-US" b="true" sz="2900">
                <a:solidFill>
                  <a:srgbClr val="FFFFFF"/>
                </a:solidFill>
                <a:latin typeface="Calibri (MS) Bold"/>
                <a:ea typeface="Calibri (MS) Bold"/>
                <a:cs typeface="Calibri (MS) Bold"/>
                <a:sym typeface="Calibri (MS) Bold"/>
              </a:rPr>
              <a:t>Reporting:</a:t>
            </a:r>
            <a:r>
              <a:rPr lang="en-US" sz="2900">
                <a:solidFill>
                  <a:srgbClr val="FFFFFF"/>
                </a:solidFill>
                <a:latin typeface="Calibri (MS)"/>
                <a:ea typeface="Calibri (MS)"/>
                <a:cs typeface="Calibri (MS)"/>
                <a:sym typeface="Calibri (MS)"/>
              </a:rPr>
              <a:t> PowerPoint or Markdown reports; exportable CSV of high-risk customers.</a:t>
            </a:r>
          </a:p>
          <a:p>
            <a:pPr algn="ctr">
              <a:lnSpc>
                <a:spcPts val="4176"/>
              </a:lnSpc>
              <a:spcBef>
                <a:spcPct val="0"/>
              </a:spcBef>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680656"/>
            <a:ext cx="14972400" cy="2119573"/>
            <a:chOff x="0" y="0"/>
            <a:chExt cx="19963200" cy="2826097"/>
          </a:xfrm>
        </p:grpSpPr>
        <p:sp>
          <p:nvSpPr>
            <p:cNvPr name="Freeform 12" id="12"/>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3" id="13"/>
            <p:cNvSpPr txBox="true"/>
            <p:nvPr/>
          </p:nvSpPr>
          <p:spPr>
            <a:xfrm>
              <a:off x="0" y="-266700"/>
              <a:ext cx="19963200" cy="3092797"/>
            </a:xfrm>
            <a:prstGeom prst="rect">
              <a:avLst/>
            </a:prstGeom>
          </p:spPr>
          <p:txBody>
            <a:bodyPr anchor="b" rtlCol="false" tIns="0" lIns="0" bIns="0" rIns="0"/>
            <a:lstStyle/>
            <a:p>
              <a:pPr algn="ctr">
                <a:lnSpc>
                  <a:spcPts val="13824"/>
                </a:lnSpc>
              </a:pPr>
              <a:r>
                <a:rPr lang="en-US" sz="9600" b="true">
                  <a:solidFill>
                    <a:srgbClr val="FFFFFF"/>
                  </a:solidFill>
                  <a:latin typeface="Arimo Bold"/>
                  <a:ea typeface="Arimo Bold"/>
                  <a:cs typeface="Arimo Bold"/>
                  <a:sym typeface="Arimo Bold"/>
                </a:rPr>
                <a:t>Timeline </a:t>
              </a:r>
            </a:p>
          </p:txBody>
        </p:sp>
      </p:grpSp>
      <p:sp>
        <p:nvSpPr>
          <p:cNvPr name="Freeform 14" id="14"/>
          <p:cNvSpPr/>
          <p:nvPr/>
        </p:nvSpPr>
        <p:spPr>
          <a:xfrm flipH="false" flipV="false" rot="0">
            <a:off x="7579830" y="9379958"/>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670875" y="44517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a:off x="15580864" y="8377610"/>
            <a:ext cx="2396040" cy="1430520"/>
          </a:xfrm>
          <a:prstGeom prst="line">
            <a:avLst/>
          </a:prstGeom>
          <a:ln cap="rnd" w="28575">
            <a:solidFill>
              <a:srgbClr val="7E4FCF"/>
            </a:solidFill>
            <a:prstDash val="solid"/>
            <a:headEnd type="none" len="sm" w="sm"/>
            <a:tailEnd type="none" len="sm" w="sm"/>
          </a:ln>
        </p:spPr>
      </p:sp>
      <p:sp>
        <p:nvSpPr>
          <p:cNvPr name="AutoShape 17" id="17"/>
          <p:cNvSpPr/>
          <p:nvPr/>
        </p:nvSpPr>
        <p:spPr>
          <a:xfrm>
            <a:off x="15587002" y="8382395"/>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V="true">
            <a:off x="15585519" y="8055087"/>
            <a:ext cx="91068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939760" y="3129152"/>
            <a:ext cx="12408480" cy="5798058"/>
          </a:xfrm>
          <a:prstGeom prst="rect">
            <a:avLst/>
          </a:prstGeom>
        </p:spPr>
        <p:txBody>
          <a:bodyPr anchor="t" rtlCol="false" tIns="0" lIns="0" bIns="0" rIns="0">
            <a:spAutoFit/>
          </a:bodyPr>
          <a:lstStyle/>
          <a:p>
            <a:pPr algn="ctr">
              <a:lnSpc>
                <a:spcPts val="4176"/>
              </a:lnSpc>
            </a:pPr>
          </a:p>
          <a:p>
            <a:pPr algn="ctr">
              <a:lnSpc>
                <a:spcPts val="4176"/>
              </a:lnSpc>
            </a:pPr>
            <a:r>
              <a:rPr lang="en-US" sz="2900">
                <a:solidFill>
                  <a:srgbClr val="FFFFFF"/>
                </a:solidFill>
                <a:latin typeface="Calibri (MS)"/>
                <a:ea typeface="Calibri (MS)"/>
                <a:cs typeface="Calibri (MS)"/>
                <a:sym typeface="Calibri (MS)"/>
              </a:rPr>
              <a:t>Week 1: Data understanding &amp; EDA</a:t>
            </a:r>
          </a:p>
          <a:p>
            <a:pPr algn="ctr">
              <a:lnSpc>
                <a:spcPts val="4176"/>
              </a:lnSpc>
            </a:pPr>
          </a:p>
          <a:p>
            <a:pPr algn="ctr">
              <a:lnSpc>
                <a:spcPts val="4176"/>
              </a:lnSpc>
            </a:pPr>
            <a:r>
              <a:rPr lang="en-US" sz="2900">
                <a:solidFill>
                  <a:srgbClr val="FFFFFF"/>
                </a:solidFill>
                <a:latin typeface="Calibri (MS)"/>
                <a:ea typeface="Calibri (MS)"/>
                <a:cs typeface="Calibri (MS)"/>
                <a:sym typeface="Calibri (MS)"/>
              </a:rPr>
              <a:t>Week 2: Preprocessing &amp; feature engineering</a:t>
            </a:r>
          </a:p>
          <a:p>
            <a:pPr algn="ctr">
              <a:lnSpc>
                <a:spcPts val="4176"/>
              </a:lnSpc>
            </a:pPr>
          </a:p>
          <a:p>
            <a:pPr algn="ctr">
              <a:lnSpc>
                <a:spcPts val="4176"/>
              </a:lnSpc>
            </a:pPr>
            <a:r>
              <a:rPr lang="en-US" sz="2900">
                <a:solidFill>
                  <a:srgbClr val="FFFFFF"/>
                </a:solidFill>
                <a:latin typeface="Calibri (MS)"/>
                <a:ea typeface="Calibri (MS)"/>
                <a:cs typeface="Calibri (MS)"/>
                <a:sym typeface="Calibri (MS)"/>
              </a:rPr>
              <a:t>Week 3: Baseline models &amp; CV</a:t>
            </a:r>
          </a:p>
          <a:p>
            <a:pPr algn="ctr">
              <a:lnSpc>
                <a:spcPts val="4176"/>
              </a:lnSpc>
            </a:pPr>
          </a:p>
          <a:p>
            <a:pPr algn="ctr">
              <a:lnSpc>
                <a:spcPts val="4176"/>
              </a:lnSpc>
            </a:pPr>
            <a:r>
              <a:rPr lang="en-US" sz="2900">
                <a:solidFill>
                  <a:srgbClr val="FFFFFF"/>
                </a:solidFill>
                <a:latin typeface="Calibri (MS)"/>
                <a:ea typeface="Calibri (MS)"/>
                <a:cs typeface="Calibri (MS)"/>
                <a:sym typeface="Calibri (MS)"/>
              </a:rPr>
              <a:t>Week 4: Tuning, interpretability, business handover</a:t>
            </a:r>
          </a:p>
          <a:p>
            <a:pPr algn="ctr">
              <a:lnSpc>
                <a:spcPts val="4176"/>
              </a:lnSpc>
            </a:pPr>
          </a:p>
          <a:p>
            <a:pPr algn="ctr">
              <a:lnSpc>
                <a:spcPts val="4176"/>
              </a:lnSpc>
              <a:spcBef>
                <a:spcPct val="0"/>
              </a:spcBef>
            </a:pPr>
            <a:r>
              <a:rPr lang="en-US" sz="2900">
                <a:solidFill>
                  <a:srgbClr val="FFFFFF"/>
                </a:solidFill>
                <a:latin typeface="Calibri (MS)"/>
                <a:ea typeface="Calibri (MS)"/>
                <a:cs typeface="Calibri (MS)"/>
                <a:sym typeface="Calibri (MS)"/>
              </a:rPr>
              <a:t>Week 5: Finalize deliverables &amp; documentation</a:t>
            </a:r>
          </a:p>
          <a:p>
            <a:pPr algn="ctr">
              <a:lnSpc>
                <a:spcPts val="4176"/>
              </a:lnSpc>
              <a:spcBef>
                <a:spcPct val="0"/>
              </a:spcBef>
            </a:pP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670875" y="-957600"/>
            <a:ext cx="15460725" cy="11960085"/>
          </a:xfrm>
          <a:custGeom>
            <a:avLst/>
            <a:gdLst/>
            <a:ahLst/>
            <a:cxnLst/>
            <a:rect r="r" b="b" t="t" l="l"/>
            <a:pathLst>
              <a:path h="11960085" w="15460725">
                <a:moveTo>
                  <a:pt x="0" y="0"/>
                </a:moveTo>
                <a:lnTo>
                  <a:pt x="15460725" y="0"/>
                </a:lnTo>
                <a:lnTo>
                  <a:pt x="15460725" y="11960085"/>
                </a:lnTo>
                <a:lnTo>
                  <a:pt x="0" y="119600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657800" y="1692903"/>
            <a:ext cx="14972400" cy="2119573"/>
            <a:chOff x="0" y="0"/>
            <a:chExt cx="19963200" cy="2826097"/>
          </a:xfrm>
        </p:grpSpPr>
        <p:sp>
          <p:nvSpPr>
            <p:cNvPr name="Freeform 12" id="12"/>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3" id="13"/>
            <p:cNvSpPr txBox="true"/>
            <p:nvPr/>
          </p:nvSpPr>
          <p:spPr>
            <a:xfrm>
              <a:off x="0" y="-247650"/>
              <a:ext cx="19963200" cy="3073747"/>
            </a:xfrm>
            <a:prstGeom prst="rect">
              <a:avLst/>
            </a:prstGeom>
          </p:spPr>
          <p:txBody>
            <a:bodyPr anchor="b" rtlCol="false" tIns="0" lIns="0" bIns="0" rIns="0"/>
            <a:lstStyle/>
            <a:p>
              <a:pPr algn="ctr">
                <a:lnSpc>
                  <a:spcPts val="13680"/>
                </a:lnSpc>
              </a:pPr>
              <a:r>
                <a:rPr lang="en-US" sz="9500" b="true">
                  <a:solidFill>
                    <a:srgbClr val="FFFFFF"/>
                  </a:solidFill>
                  <a:latin typeface="Arimo Bold"/>
                  <a:ea typeface="Arimo Bold"/>
                  <a:cs typeface="Arimo Bold"/>
                  <a:sym typeface="Arimo Bold"/>
                </a:rPr>
                <a:t>Conclusion</a:t>
              </a:r>
            </a:p>
          </p:txBody>
        </p:sp>
      </p:grpSp>
      <p:sp>
        <p:nvSpPr>
          <p:cNvPr name="Freeform 14" id="14"/>
          <p:cNvSpPr/>
          <p:nvPr/>
        </p:nvSpPr>
        <p:spPr>
          <a:xfrm flipH="false" flipV="false" rot="0">
            <a:off x="7579830" y="9379958"/>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670875" y="445170"/>
            <a:ext cx="1138980" cy="1167060"/>
          </a:xfrm>
          <a:custGeom>
            <a:avLst/>
            <a:gdLst/>
            <a:ahLst/>
            <a:cxnLst/>
            <a:rect r="r" b="b" t="t" l="l"/>
            <a:pathLst>
              <a:path h="1167060" w="1138980">
                <a:moveTo>
                  <a:pt x="0" y="0"/>
                </a:moveTo>
                <a:lnTo>
                  <a:pt x="1138980" y="0"/>
                </a:lnTo>
                <a:lnTo>
                  <a:pt x="1138980" y="1167060"/>
                </a:lnTo>
                <a:lnTo>
                  <a:pt x="0" y="1167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6" id="16"/>
          <p:cNvSpPr/>
          <p:nvPr/>
        </p:nvSpPr>
        <p:spPr>
          <a:xfrm>
            <a:off x="15580864" y="8377610"/>
            <a:ext cx="2396040" cy="1430520"/>
          </a:xfrm>
          <a:prstGeom prst="line">
            <a:avLst/>
          </a:prstGeom>
          <a:ln cap="rnd" w="28575">
            <a:solidFill>
              <a:srgbClr val="7E4FCF"/>
            </a:solidFill>
            <a:prstDash val="solid"/>
            <a:headEnd type="none" len="sm" w="sm"/>
            <a:tailEnd type="none" len="sm" w="sm"/>
          </a:ln>
        </p:spPr>
      </p:sp>
      <p:sp>
        <p:nvSpPr>
          <p:cNvPr name="AutoShape 17" id="17"/>
          <p:cNvSpPr/>
          <p:nvPr/>
        </p:nvSpPr>
        <p:spPr>
          <a:xfrm>
            <a:off x="15587002" y="8382395"/>
            <a:ext cx="307320" cy="864600"/>
          </a:xfrm>
          <a:prstGeom prst="line">
            <a:avLst/>
          </a:prstGeom>
          <a:ln cap="rnd" w="28575">
            <a:solidFill>
              <a:srgbClr val="7E4FCF"/>
            </a:solidFill>
            <a:prstDash val="solid"/>
            <a:headEnd type="none" len="sm" w="sm"/>
            <a:tailEnd type="none" len="sm" w="sm"/>
          </a:ln>
        </p:spPr>
      </p:sp>
      <p:sp>
        <p:nvSpPr>
          <p:cNvPr name="AutoShape 18" id="18"/>
          <p:cNvSpPr/>
          <p:nvPr/>
        </p:nvSpPr>
        <p:spPr>
          <a:xfrm flipV="true">
            <a:off x="15585519" y="8055087"/>
            <a:ext cx="910680" cy="313800"/>
          </a:xfrm>
          <a:prstGeom prst="line">
            <a:avLst/>
          </a:prstGeom>
          <a:ln cap="rnd" w="28575">
            <a:solidFill>
              <a:srgbClr val="7E4FCF"/>
            </a:solidFill>
            <a:prstDash val="solid"/>
            <a:headEnd type="none" len="sm" w="sm"/>
            <a:tailEnd type="none" len="sm" w="sm"/>
          </a:ln>
        </p:spPr>
      </p:sp>
      <p:sp>
        <p:nvSpPr>
          <p:cNvPr name="TextBox 19" id="19"/>
          <p:cNvSpPr txBox="true"/>
          <p:nvPr/>
        </p:nvSpPr>
        <p:spPr>
          <a:xfrm rot="0">
            <a:off x="2939760" y="3717226"/>
            <a:ext cx="12408480" cy="4621911"/>
          </a:xfrm>
          <a:prstGeom prst="rect">
            <a:avLst/>
          </a:prstGeom>
        </p:spPr>
        <p:txBody>
          <a:bodyPr anchor="t" rtlCol="false" tIns="0" lIns="0" bIns="0" rIns="0">
            <a:spAutoFit/>
          </a:bodyPr>
          <a:lstStyle/>
          <a:p>
            <a:pPr algn="ctr">
              <a:lnSpc>
                <a:spcPts val="4176"/>
              </a:lnSpc>
              <a:spcBef>
                <a:spcPct val="0"/>
              </a:spcBef>
            </a:pPr>
          </a:p>
          <a:p>
            <a:pPr algn="ctr">
              <a:lnSpc>
                <a:spcPts val="4607"/>
              </a:lnSpc>
              <a:spcBef>
                <a:spcPct val="0"/>
              </a:spcBef>
            </a:pPr>
            <a:r>
              <a:rPr lang="en-US" sz="3199">
                <a:solidFill>
                  <a:srgbClr val="FFFFFF"/>
                </a:solidFill>
                <a:latin typeface="Calibri (MS)"/>
                <a:ea typeface="Calibri (MS)"/>
                <a:cs typeface="Calibri (MS)"/>
                <a:sym typeface="Calibri (MS)"/>
              </a:rPr>
              <a:t>This project leverages the Telco Customer Churn dataset and proven modeling approaches—from baseline logistic regression to advanced techniques like LightGBM—to build an operational churn prediction system. It aims to deliver both predictive accuracy and actionable business insights. The proposal outlines a comprehensive methodology and set of deliverables that can be executed directly or handed off to a development or analytics team for implementation.</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grpSp>
        <p:nvGrpSpPr>
          <p:cNvPr name="Group 10" id="10"/>
          <p:cNvGrpSpPr/>
          <p:nvPr/>
        </p:nvGrpSpPr>
        <p:grpSpPr>
          <a:xfrm rot="0">
            <a:off x="1657800" y="3962656"/>
            <a:ext cx="14972400" cy="2119573"/>
            <a:chOff x="0" y="0"/>
            <a:chExt cx="19963200" cy="2826097"/>
          </a:xfrm>
        </p:grpSpPr>
        <p:sp>
          <p:nvSpPr>
            <p:cNvPr name="Freeform 11" id="11"/>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2" id="12"/>
            <p:cNvSpPr txBox="true"/>
            <p:nvPr/>
          </p:nvSpPr>
          <p:spPr>
            <a:xfrm>
              <a:off x="0" y="-266700"/>
              <a:ext cx="19963200" cy="3092797"/>
            </a:xfrm>
            <a:prstGeom prst="rect">
              <a:avLst/>
            </a:prstGeom>
          </p:spPr>
          <p:txBody>
            <a:bodyPr anchor="b" rtlCol="false" tIns="0" lIns="0" bIns="0" rIns="0"/>
            <a:lstStyle/>
            <a:p>
              <a:pPr algn="ctr">
                <a:lnSpc>
                  <a:spcPts val="14976"/>
                </a:lnSpc>
              </a:pPr>
              <a:r>
                <a:rPr lang="en-US" sz="10400" b="true">
                  <a:solidFill>
                    <a:srgbClr val="FFFFFF"/>
                  </a:solidFill>
                  <a:latin typeface="Arimo Bold"/>
                  <a:ea typeface="Arimo Bold"/>
                  <a:cs typeface="Arimo Bold"/>
                  <a:sym typeface="Arimo Bold"/>
                </a:rPr>
                <a:t>Methodology</a:t>
              </a:r>
            </a:p>
          </p:txBody>
        </p:sp>
      </p:grpSp>
      <p:sp>
        <p:nvSpPr>
          <p:cNvPr name="AutoShape 13" id="13"/>
          <p:cNvSpPr/>
          <p:nvPr/>
        </p:nvSpPr>
        <p:spPr>
          <a:xfrm rot="4225941">
            <a:off x="14346203" y="7918755"/>
            <a:ext cx="917594" cy="0"/>
          </a:xfrm>
          <a:prstGeom prst="line">
            <a:avLst/>
          </a:prstGeom>
          <a:ln cap="rnd" w="28575">
            <a:solidFill>
              <a:srgbClr val="7E4FCF"/>
            </a:solidFill>
            <a:prstDash val="solid"/>
            <a:headEnd type="none" len="sm" w="sm"/>
            <a:tailEnd type="none" len="sm" w="sm"/>
          </a:ln>
        </p:spPr>
      </p:sp>
      <p:sp>
        <p:nvSpPr>
          <p:cNvPr name="AutoShape 14" id="14"/>
          <p:cNvSpPr/>
          <p:nvPr/>
        </p:nvSpPr>
        <p:spPr>
          <a:xfrm rot="-1140768">
            <a:off x="14636586" y="7388475"/>
            <a:ext cx="963228" cy="0"/>
          </a:xfrm>
          <a:prstGeom prst="line">
            <a:avLst/>
          </a:prstGeom>
          <a:ln cap="rnd" w="28575">
            <a:solidFill>
              <a:srgbClr val="7E4FCF"/>
            </a:solidFill>
            <a:prstDash val="solid"/>
            <a:headEnd type="none" len="sm" w="sm"/>
            <a:tailEnd type="none" len="sm" w="sm"/>
          </a:ln>
        </p:spPr>
      </p:sp>
      <p:sp>
        <p:nvSpPr>
          <p:cNvPr name="Freeform 15" id="15"/>
          <p:cNvSpPr/>
          <p:nvPr/>
        </p:nvSpPr>
        <p:spPr>
          <a:xfrm flipH="false" flipV="false" rot="0">
            <a:off x="1337569" y="1877909"/>
            <a:ext cx="15612863" cy="6531182"/>
          </a:xfrm>
          <a:custGeom>
            <a:avLst/>
            <a:gdLst/>
            <a:ahLst/>
            <a:cxnLst/>
            <a:rect r="r" b="b" t="t" l="l"/>
            <a:pathLst>
              <a:path h="6531182" w="15612863">
                <a:moveTo>
                  <a:pt x="0" y="0"/>
                </a:moveTo>
                <a:lnTo>
                  <a:pt x="15612862" y="0"/>
                </a:lnTo>
                <a:lnTo>
                  <a:pt x="15612862" y="6531182"/>
                </a:lnTo>
                <a:lnTo>
                  <a:pt x="0" y="6531182"/>
                </a:lnTo>
                <a:lnTo>
                  <a:pt x="0" y="0"/>
                </a:lnTo>
                <a:close/>
              </a:path>
            </a:pathLst>
          </a:custGeom>
          <a:blipFill>
            <a:blip r:embed="rId4"/>
            <a:stretch>
              <a:fillRect l="0" t="0" r="0" b="0"/>
            </a:stretch>
          </a:blipFill>
          <a:ln w="38100" cap="sq">
            <a:solidFill>
              <a:srgbClr val="7E4FCF"/>
            </a:solidFill>
            <a:prstDash val="solid"/>
            <a:miter/>
          </a:ln>
        </p:spPr>
      </p:sp>
      <p:grpSp>
        <p:nvGrpSpPr>
          <p:cNvPr name="Group 16" id="16"/>
          <p:cNvGrpSpPr/>
          <p:nvPr/>
        </p:nvGrpSpPr>
        <p:grpSpPr>
          <a:xfrm rot="0">
            <a:off x="6581390" y="522393"/>
            <a:ext cx="5125220" cy="998971"/>
            <a:chOff x="0" y="0"/>
            <a:chExt cx="19963200" cy="3891083"/>
          </a:xfrm>
        </p:grpSpPr>
        <p:sp>
          <p:nvSpPr>
            <p:cNvPr name="Freeform 17" id="17"/>
            <p:cNvSpPr/>
            <p:nvPr/>
          </p:nvSpPr>
          <p:spPr>
            <a:xfrm flipH="false" flipV="false" rot="0">
              <a:off x="0" y="0"/>
              <a:ext cx="19963200" cy="3891083"/>
            </a:xfrm>
            <a:custGeom>
              <a:avLst/>
              <a:gdLst/>
              <a:ahLst/>
              <a:cxnLst/>
              <a:rect r="r" b="b" t="t" l="l"/>
              <a:pathLst>
                <a:path h="3891083" w="19963200">
                  <a:moveTo>
                    <a:pt x="0" y="0"/>
                  </a:moveTo>
                  <a:lnTo>
                    <a:pt x="19963200" y="0"/>
                  </a:lnTo>
                  <a:lnTo>
                    <a:pt x="19963200" y="3891083"/>
                  </a:lnTo>
                  <a:lnTo>
                    <a:pt x="0" y="3891083"/>
                  </a:lnTo>
                  <a:close/>
                </a:path>
              </a:pathLst>
            </a:custGeom>
            <a:solidFill>
              <a:srgbClr val="000000">
                <a:alpha val="0"/>
              </a:srgbClr>
            </a:solidFill>
          </p:spPr>
        </p:sp>
        <p:sp>
          <p:nvSpPr>
            <p:cNvPr name="TextBox 18" id="18"/>
            <p:cNvSpPr txBox="true"/>
            <p:nvPr/>
          </p:nvSpPr>
          <p:spPr>
            <a:xfrm>
              <a:off x="0" y="-219075"/>
              <a:ext cx="19963200" cy="4110158"/>
            </a:xfrm>
            <a:prstGeom prst="rect">
              <a:avLst/>
            </a:prstGeom>
          </p:spPr>
          <p:txBody>
            <a:bodyPr anchor="b" rtlCol="false" tIns="0" lIns="0" bIns="0" rIns="0"/>
            <a:lstStyle/>
            <a:p>
              <a:pPr algn="ctr">
                <a:lnSpc>
                  <a:spcPts val="7199"/>
                </a:lnSpc>
              </a:pPr>
              <a:r>
                <a:rPr lang="en-US" sz="4999" b="true">
                  <a:solidFill>
                    <a:srgbClr val="FFFFFF"/>
                  </a:solidFill>
                  <a:latin typeface="Calibri (MS) Bold"/>
                  <a:ea typeface="Calibri (MS) Bold"/>
                  <a:cs typeface="Calibri (MS) Bold"/>
                  <a:sym typeface="Calibri (MS) Bold"/>
                </a:rPr>
                <a:t>Churn Rate</a:t>
              </a:r>
            </a:p>
          </p:txBody>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grpSp>
        <p:nvGrpSpPr>
          <p:cNvPr name="Group 10" id="10"/>
          <p:cNvGrpSpPr/>
          <p:nvPr/>
        </p:nvGrpSpPr>
        <p:grpSpPr>
          <a:xfrm rot="0">
            <a:off x="1657800" y="3962656"/>
            <a:ext cx="14972400" cy="2119573"/>
            <a:chOff x="0" y="0"/>
            <a:chExt cx="19963200" cy="2826097"/>
          </a:xfrm>
        </p:grpSpPr>
        <p:sp>
          <p:nvSpPr>
            <p:cNvPr name="Freeform 11" id="11"/>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2" id="12"/>
            <p:cNvSpPr txBox="true"/>
            <p:nvPr/>
          </p:nvSpPr>
          <p:spPr>
            <a:xfrm>
              <a:off x="0" y="-266700"/>
              <a:ext cx="19963200" cy="3092797"/>
            </a:xfrm>
            <a:prstGeom prst="rect">
              <a:avLst/>
            </a:prstGeom>
          </p:spPr>
          <p:txBody>
            <a:bodyPr anchor="b" rtlCol="false" tIns="0" lIns="0" bIns="0" rIns="0"/>
            <a:lstStyle/>
            <a:p>
              <a:pPr algn="ctr">
                <a:lnSpc>
                  <a:spcPts val="14976"/>
                </a:lnSpc>
              </a:pPr>
              <a:r>
                <a:rPr lang="en-US" sz="10400" b="true">
                  <a:solidFill>
                    <a:srgbClr val="FFFFFF"/>
                  </a:solidFill>
                  <a:latin typeface="Arimo Bold"/>
                  <a:ea typeface="Arimo Bold"/>
                  <a:cs typeface="Arimo Bold"/>
                  <a:sym typeface="Arimo Bold"/>
                </a:rPr>
                <a:t>Methodology</a:t>
              </a:r>
            </a:p>
          </p:txBody>
        </p:sp>
      </p:grpSp>
      <p:sp>
        <p:nvSpPr>
          <p:cNvPr name="Freeform 13" id="13"/>
          <p:cNvSpPr/>
          <p:nvPr/>
        </p:nvSpPr>
        <p:spPr>
          <a:xfrm flipH="false" flipV="false" rot="0">
            <a:off x="7579830" y="781887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4" id="14"/>
          <p:cNvSpPr/>
          <p:nvPr/>
        </p:nvSpPr>
        <p:spPr>
          <a:xfrm rot="4225941">
            <a:off x="14346203" y="7918755"/>
            <a:ext cx="917594" cy="0"/>
          </a:xfrm>
          <a:prstGeom prst="line">
            <a:avLst/>
          </a:prstGeom>
          <a:ln cap="rnd" w="28575">
            <a:solidFill>
              <a:srgbClr val="7E4FCF"/>
            </a:solidFill>
            <a:prstDash val="solid"/>
            <a:headEnd type="none" len="sm" w="sm"/>
            <a:tailEnd type="none" len="sm" w="sm"/>
          </a:ln>
        </p:spPr>
      </p:sp>
      <p:sp>
        <p:nvSpPr>
          <p:cNvPr name="AutoShape 15" id="15"/>
          <p:cNvSpPr/>
          <p:nvPr/>
        </p:nvSpPr>
        <p:spPr>
          <a:xfrm rot="-1140768">
            <a:off x="14636586" y="7388475"/>
            <a:ext cx="963228" cy="0"/>
          </a:xfrm>
          <a:prstGeom prst="line">
            <a:avLst/>
          </a:prstGeom>
          <a:ln cap="rnd" w="28575">
            <a:solidFill>
              <a:srgbClr val="7E4FCF"/>
            </a:solidFill>
            <a:prstDash val="solid"/>
            <a:headEnd type="none" len="sm" w="sm"/>
            <a:tailEnd type="none" len="sm" w="sm"/>
          </a:ln>
        </p:spPr>
      </p:sp>
      <p:sp>
        <p:nvSpPr>
          <p:cNvPr name="Freeform 16" id="16"/>
          <p:cNvSpPr/>
          <p:nvPr/>
        </p:nvSpPr>
        <p:spPr>
          <a:xfrm flipH="false" flipV="false" rot="0">
            <a:off x="2585388" y="410481"/>
            <a:ext cx="13117224" cy="9466038"/>
          </a:xfrm>
          <a:custGeom>
            <a:avLst/>
            <a:gdLst/>
            <a:ahLst/>
            <a:cxnLst/>
            <a:rect r="r" b="b" t="t" l="l"/>
            <a:pathLst>
              <a:path h="9466038" w="13117224">
                <a:moveTo>
                  <a:pt x="0" y="0"/>
                </a:moveTo>
                <a:lnTo>
                  <a:pt x="13117224" y="0"/>
                </a:lnTo>
                <a:lnTo>
                  <a:pt x="13117224" y="9466038"/>
                </a:lnTo>
                <a:lnTo>
                  <a:pt x="0" y="9466038"/>
                </a:lnTo>
                <a:lnTo>
                  <a:pt x="0" y="0"/>
                </a:lnTo>
                <a:close/>
              </a:path>
            </a:pathLst>
          </a:custGeom>
          <a:blipFill>
            <a:blip r:embed="rId6"/>
            <a:stretch>
              <a:fillRect l="0" t="0" r="0" b="0"/>
            </a:stretch>
          </a:blipFill>
          <a:ln w="38100" cap="sq">
            <a:solidFill>
              <a:srgbClr val="7E4FCF"/>
            </a:solidFill>
            <a:prstDash val="solid"/>
            <a:miter/>
          </a:ln>
        </p:spPr>
      </p:sp>
      <p:grpSp>
        <p:nvGrpSpPr>
          <p:cNvPr name="Group 17" id="17"/>
          <p:cNvGrpSpPr/>
          <p:nvPr/>
        </p:nvGrpSpPr>
        <p:grpSpPr>
          <a:xfrm rot="0">
            <a:off x="348396" y="2175975"/>
            <a:ext cx="1971123" cy="6876259"/>
            <a:chOff x="0" y="0"/>
            <a:chExt cx="7161050" cy="24981314"/>
          </a:xfrm>
        </p:grpSpPr>
        <p:sp>
          <p:nvSpPr>
            <p:cNvPr name="Freeform 18" id="18"/>
            <p:cNvSpPr/>
            <p:nvPr/>
          </p:nvSpPr>
          <p:spPr>
            <a:xfrm flipH="false" flipV="false" rot="0">
              <a:off x="0" y="0"/>
              <a:ext cx="7161050" cy="24981314"/>
            </a:xfrm>
            <a:custGeom>
              <a:avLst/>
              <a:gdLst/>
              <a:ahLst/>
              <a:cxnLst/>
              <a:rect r="r" b="b" t="t" l="l"/>
              <a:pathLst>
                <a:path h="24981314" w="7161050">
                  <a:moveTo>
                    <a:pt x="0" y="0"/>
                  </a:moveTo>
                  <a:lnTo>
                    <a:pt x="7161050" y="0"/>
                  </a:lnTo>
                  <a:lnTo>
                    <a:pt x="7161050" y="24981314"/>
                  </a:lnTo>
                  <a:lnTo>
                    <a:pt x="0" y="24981314"/>
                  </a:lnTo>
                  <a:close/>
                </a:path>
              </a:pathLst>
            </a:custGeom>
            <a:solidFill>
              <a:srgbClr val="000000">
                <a:alpha val="0"/>
              </a:srgbClr>
            </a:solidFill>
          </p:spPr>
        </p:sp>
        <p:sp>
          <p:nvSpPr>
            <p:cNvPr name="TextBox 19" id="19"/>
            <p:cNvSpPr txBox="true"/>
            <p:nvPr/>
          </p:nvSpPr>
          <p:spPr>
            <a:xfrm>
              <a:off x="0" y="-152400"/>
              <a:ext cx="7161050" cy="25133714"/>
            </a:xfrm>
            <a:prstGeom prst="rect">
              <a:avLst/>
            </a:prstGeom>
          </p:spPr>
          <p:txBody>
            <a:bodyPr anchor="b" rtlCol="false" tIns="0" lIns="0" bIns="0" rIns="0"/>
            <a:lstStyle/>
            <a:p>
              <a:pPr algn="ctr">
                <a:lnSpc>
                  <a:spcPts val="5041"/>
                </a:lnSpc>
              </a:pPr>
              <a:r>
                <a:rPr lang="en-US" sz="3500" b="true">
                  <a:solidFill>
                    <a:srgbClr val="FFFFFF"/>
                  </a:solidFill>
                  <a:latin typeface="Calibri (MS) Bold"/>
                  <a:ea typeface="Calibri (MS) Bold"/>
                  <a:cs typeface="Calibri (MS) Bold"/>
                  <a:sym typeface="Calibri (MS) Bold"/>
                </a:rPr>
                <a:t>C</a:t>
              </a:r>
            </a:p>
            <a:p>
              <a:pPr algn="ctr">
                <a:lnSpc>
                  <a:spcPts val="5761"/>
                </a:lnSpc>
              </a:pPr>
              <a:r>
                <a:rPr lang="en-US" sz="4000" b="true">
                  <a:solidFill>
                    <a:srgbClr val="FFFFFF"/>
                  </a:solidFill>
                  <a:latin typeface="Calibri (MS) Bold"/>
                  <a:ea typeface="Calibri (MS) Bold"/>
                  <a:cs typeface="Calibri (MS) Bold"/>
                  <a:sym typeface="Calibri (MS) Bold"/>
                </a:rPr>
                <a:t>A</a:t>
              </a:r>
            </a:p>
            <a:p>
              <a:pPr algn="ctr">
                <a:lnSpc>
                  <a:spcPts val="5761"/>
                </a:lnSpc>
              </a:pPr>
              <a:r>
                <a:rPr lang="en-US" sz="4000" b="true">
                  <a:solidFill>
                    <a:srgbClr val="FFFFFF"/>
                  </a:solidFill>
                  <a:latin typeface="Calibri (MS) Bold"/>
                  <a:ea typeface="Calibri (MS) Bold"/>
                  <a:cs typeface="Calibri (MS) Bold"/>
                  <a:sym typeface="Calibri (MS) Bold"/>
                </a:rPr>
                <a:t>T</a:t>
              </a:r>
            </a:p>
            <a:p>
              <a:pPr algn="ctr">
                <a:lnSpc>
                  <a:spcPts val="5761"/>
                </a:lnSpc>
              </a:pPr>
              <a:r>
                <a:rPr lang="en-US" sz="4000" b="true">
                  <a:solidFill>
                    <a:srgbClr val="FFFFFF"/>
                  </a:solidFill>
                  <a:latin typeface="Calibri (MS) Bold"/>
                  <a:ea typeface="Calibri (MS) Bold"/>
                  <a:cs typeface="Calibri (MS) Bold"/>
                  <a:sym typeface="Calibri (MS) Bold"/>
                </a:rPr>
                <a:t>E</a:t>
              </a:r>
            </a:p>
            <a:p>
              <a:pPr algn="ctr">
                <a:lnSpc>
                  <a:spcPts val="5761"/>
                </a:lnSpc>
              </a:pPr>
              <a:r>
                <a:rPr lang="en-US" sz="4000" b="true">
                  <a:solidFill>
                    <a:srgbClr val="FFFFFF"/>
                  </a:solidFill>
                  <a:latin typeface="Calibri (MS) Bold"/>
                  <a:ea typeface="Calibri (MS) Bold"/>
                  <a:cs typeface="Calibri (MS) Bold"/>
                  <a:sym typeface="Calibri (MS) Bold"/>
                </a:rPr>
                <a:t>G</a:t>
              </a:r>
            </a:p>
            <a:p>
              <a:pPr algn="ctr">
                <a:lnSpc>
                  <a:spcPts val="5761"/>
                </a:lnSpc>
              </a:pPr>
              <a:r>
                <a:rPr lang="en-US" sz="4000" b="true">
                  <a:solidFill>
                    <a:srgbClr val="FFFFFF"/>
                  </a:solidFill>
                  <a:latin typeface="Calibri (MS) Bold"/>
                  <a:ea typeface="Calibri (MS) Bold"/>
                  <a:cs typeface="Calibri (MS) Bold"/>
                  <a:sym typeface="Calibri (MS) Bold"/>
                </a:rPr>
                <a:t>O</a:t>
              </a:r>
            </a:p>
            <a:p>
              <a:pPr algn="ctr">
                <a:lnSpc>
                  <a:spcPts val="5041"/>
                </a:lnSpc>
              </a:pPr>
              <a:r>
                <a:rPr lang="en-US" sz="3500" b="true">
                  <a:solidFill>
                    <a:srgbClr val="FFFFFF"/>
                  </a:solidFill>
                  <a:latin typeface="Calibri (MS) Bold"/>
                  <a:ea typeface="Calibri (MS) Bold"/>
                  <a:cs typeface="Calibri (MS) Bold"/>
                  <a:sym typeface="Calibri (MS) Bold"/>
                </a:rPr>
                <a:t>R</a:t>
              </a:r>
            </a:p>
            <a:p>
              <a:pPr algn="ctr">
                <a:lnSpc>
                  <a:spcPts val="5041"/>
                </a:lnSpc>
              </a:pPr>
              <a:r>
                <a:rPr lang="en-US" sz="3500" b="true">
                  <a:solidFill>
                    <a:srgbClr val="FFFFFF"/>
                  </a:solidFill>
                  <a:latin typeface="Calibri (MS) Bold"/>
                  <a:ea typeface="Calibri (MS) Bold"/>
                  <a:cs typeface="Calibri (MS) Bold"/>
                  <a:sym typeface="Calibri (MS) Bold"/>
                </a:rPr>
                <a:t>Y</a:t>
              </a:r>
            </a:p>
            <a:p>
              <a:pPr algn="ctr">
                <a:lnSpc>
                  <a:spcPts val="5041"/>
                </a:lnSpc>
              </a:pPr>
            </a:p>
            <a:p>
              <a:pPr algn="ctr">
                <a:lnSpc>
                  <a:spcPts val="5041"/>
                </a:lnSpc>
              </a:pPr>
              <a:r>
                <a:rPr lang="en-US" sz="3500" b="true">
                  <a:solidFill>
                    <a:srgbClr val="FFFFFF"/>
                  </a:solidFill>
                  <a:latin typeface="Calibri (MS) Bold"/>
                  <a:ea typeface="Calibri (MS) Bold"/>
                  <a:cs typeface="Calibri (MS) Bold"/>
                  <a:sym typeface="Calibri (MS) Bold"/>
                </a:rPr>
                <a:t>v/s</a:t>
              </a:r>
            </a:p>
          </p:txBody>
        </p:sp>
      </p:grpSp>
      <p:grpSp>
        <p:nvGrpSpPr>
          <p:cNvPr name="Group 20" id="20"/>
          <p:cNvGrpSpPr/>
          <p:nvPr/>
        </p:nvGrpSpPr>
        <p:grpSpPr>
          <a:xfrm rot="0">
            <a:off x="15969312" y="1700595"/>
            <a:ext cx="1971123" cy="6790534"/>
            <a:chOff x="0" y="0"/>
            <a:chExt cx="7161050" cy="24669877"/>
          </a:xfrm>
        </p:grpSpPr>
        <p:sp>
          <p:nvSpPr>
            <p:cNvPr name="Freeform 21" id="21"/>
            <p:cNvSpPr/>
            <p:nvPr/>
          </p:nvSpPr>
          <p:spPr>
            <a:xfrm flipH="false" flipV="false" rot="0">
              <a:off x="0" y="0"/>
              <a:ext cx="7161050" cy="24669876"/>
            </a:xfrm>
            <a:custGeom>
              <a:avLst/>
              <a:gdLst/>
              <a:ahLst/>
              <a:cxnLst/>
              <a:rect r="r" b="b" t="t" l="l"/>
              <a:pathLst>
                <a:path h="24669876" w="7161050">
                  <a:moveTo>
                    <a:pt x="0" y="0"/>
                  </a:moveTo>
                  <a:lnTo>
                    <a:pt x="7161050" y="0"/>
                  </a:lnTo>
                  <a:lnTo>
                    <a:pt x="7161050" y="24669876"/>
                  </a:lnTo>
                  <a:lnTo>
                    <a:pt x="0" y="24669876"/>
                  </a:lnTo>
                  <a:close/>
                </a:path>
              </a:pathLst>
            </a:custGeom>
            <a:solidFill>
              <a:srgbClr val="000000">
                <a:alpha val="0"/>
              </a:srgbClr>
            </a:solidFill>
          </p:spPr>
        </p:sp>
        <p:sp>
          <p:nvSpPr>
            <p:cNvPr name="TextBox 22" id="22"/>
            <p:cNvSpPr txBox="true"/>
            <p:nvPr/>
          </p:nvSpPr>
          <p:spPr>
            <a:xfrm>
              <a:off x="0" y="-152400"/>
              <a:ext cx="7161050" cy="24822277"/>
            </a:xfrm>
            <a:prstGeom prst="rect">
              <a:avLst/>
            </a:prstGeom>
          </p:spPr>
          <p:txBody>
            <a:bodyPr anchor="b" rtlCol="false" tIns="0" lIns="0" bIns="0" rIns="0"/>
            <a:lstStyle/>
            <a:p>
              <a:pPr algn="ctr">
                <a:lnSpc>
                  <a:spcPts val="5041"/>
                </a:lnSpc>
              </a:pPr>
              <a:r>
                <a:rPr lang="en-US" sz="3500" b="true">
                  <a:solidFill>
                    <a:srgbClr val="FFFFFF"/>
                  </a:solidFill>
                  <a:latin typeface="Calibri (MS) Bold"/>
                  <a:ea typeface="Calibri (MS) Bold"/>
                  <a:cs typeface="Calibri (MS) Bold"/>
                  <a:sym typeface="Calibri (MS) Bold"/>
                </a:rPr>
                <a:t>C</a:t>
              </a:r>
            </a:p>
            <a:p>
              <a:pPr algn="ctr">
                <a:lnSpc>
                  <a:spcPts val="5761"/>
                </a:lnSpc>
              </a:pPr>
              <a:r>
                <a:rPr lang="en-US" sz="4000" b="true">
                  <a:solidFill>
                    <a:srgbClr val="FFFFFF"/>
                  </a:solidFill>
                  <a:latin typeface="Calibri (MS) Bold"/>
                  <a:ea typeface="Calibri (MS) Bold"/>
                  <a:cs typeface="Calibri (MS) Bold"/>
                  <a:sym typeface="Calibri (MS) Bold"/>
                </a:rPr>
                <a:t>H</a:t>
              </a:r>
            </a:p>
            <a:p>
              <a:pPr algn="ctr">
                <a:lnSpc>
                  <a:spcPts val="5761"/>
                </a:lnSpc>
              </a:pPr>
              <a:r>
                <a:rPr lang="en-US" sz="4000" b="true">
                  <a:solidFill>
                    <a:srgbClr val="FFFFFF"/>
                  </a:solidFill>
                  <a:latin typeface="Calibri (MS) Bold"/>
                  <a:ea typeface="Calibri (MS) Bold"/>
                  <a:cs typeface="Calibri (MS) Bold"/>
                  <a:sym typeface="Calibri (MS) Bold"/>
                </a:rPr>
                <a:t>U</a:t>
              </a:r>
            </a:p>
            <a:p>
              <a:pPr algn="ctr">
                <a:lnSpc>
                  <a:spcPts val="5761"/>
                </a:lnSpc>
              </a:pPr>
              <a:r>
                <a:rPr lang="en-US" sz="4000" b="true">
                  <a:solidFill>
                    <a:srgbClr val="FFFFFF"/>
                  </a:solidFill>
                  <a:latin typeface="Calibri (MS) Bold"/>
                  <a:ea typeface="Calibri (MS) Bold"/>
                  <a:cs typeface="Calibri (MS) Bold"/>
                  <a:sym typeface="Calibri (MS) Bold"/>
                </a:rPr>
                <a:t>R</a:t>
              </a:r>
            </a:p>
            <a:p>
              <a:pPr algn="ctr">
                <a:lnSpc>
                  <a:spcPts val="5761"/>
                </a:lnSpc>
              </a:pPr>
              <a:r>
                <a:rPr lang="en-US" sz="4000" b="true">
                  <a:solidFill>
                    <a:srgbClr val="FFFFFF"/>
                  </a:solidFill>
                  <a:latin typeface="Calibri (MS) Bold"/>
                  <a:ea typeface="Calibri (MS) Bold"/>
                  <a:cs typeface="Calibri (MS) Bold"/>
                  <a:sym typeface="Calibri (MS) Bold"/>
                </a:rPr>
                <a:t>N</a:t>
              </a:r>
            </a:p>
            <a:p>
              <a:pPr algn="ctr">
                <a:lnSpc>
                  <a:spcPts val="5041"/>
                </a:lnSpc>
              </a:pPr>
            </a:p>
            <a:p>
              <a:pPr algn="ctr">
                <a:lnSpc>
                  <a:spcPts val="5041"/>
                </a:lnSpc>
              </a:pPr>
              <a:r>
                <a:rPr lang="en-US" sz="3500" b="true">
                  <a:solidFill>
                    <a:srgbClr val="FFFFFF"/>
                  </a:solidFill>
                  <a:latin typeface="Calibri (MS) Bold"/>
                  <a:ea typeface="Calibri (MS) Bold"/>
                  <a:cs typeface="Calibri (MS) Bold"/>
                  <a:sym typeface="Calibri (MS) Bold"/>
                </a:rPr>
                <a:t>P</a:t>
              </a:r>
            </a:p>
            <a:p>
              <a:pPr algn="ctr">
                <a:lnSpc>
                  <a:spcPts val="5041"/>
                </a:lnSpc>
              </a:pPr>
              <a:r>
                <a:rPr lang="en-US" sz="3500" b="true">
                  <a:solidFill>
                    <a:srgbClr val="FFFFFF"/>
                  </a:solidFill>
                  <a:latin typeface="Calibri (MS) Bold"/>
                  <a:ea typeface="Calibri (MS) Bold"/>
                  <a:cs typeface="Calibri (MS) Bold"/>
                  <a:sym typeface="Calibri (MS) Bold"/>
                </a:rPr>
                <a:t>L</a:t>
              </a:r>
            </a:p>
            <a:p>
              <a:pPr algn="ctr">
                <a:lnSpc>
                  <a:spcPts val="5041"/>
                </a:lnSpc>
              </a:pPr>
              <a:r>
                <a:rPr lang="en-US" sz="3500" b="true">
                  <a:solidFill>
                    <a:srgbClr val="FFFFFF"/>
                  </a:solidFill>
                  <a:latin typeface="Calibri (MS) Bold"/>
                  <a:ea typeface="Calibri (MS) Bold"/>
                  <a:cs typeface="Calibri (MS) Bold"/>
                  <a:sym typeface="Calibri (MS) Bold"/>
                </a:rPr>
                <a:t>O</a:t>
              </a:r>
            </a:p>
            <a:p>
              <a:pPr algn="ctr">
                <a:lnSpc>
                  <a:spcPts val="5041"/>
                </a:lnSpc>
              </a:pPr>
              <a:r>
                <a:rPr lang="en-US" sz="3500" b="true">
                  <a:solidFill>
                    <a:srgbClr val="FFFFFF"/>
                  </a:solidFill>
                  <a:latin typeface="Calibri (MS) Bold"/>
                  <a:ea typeface="Calibri (MS) Bold"/>
                  <a:cs typeface="Calibri (MS) Bold"/>
                  <a:sym typeface="Calibri (MS) Bold"/>
                </a:rPr>
                <a:t>T</a:t>
              </a:r>
            </a:p>
          </p:txBody>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grpSp>
        <p:nvGrpSpPr>
          <p:cNvPr name="Group 10" id="10"/>
          <p:cNvGrpSpPr/>
          <p:nvPr/>
        </p:nvGrpSpPr>
        <p:grpSpPr>
          <a:xfrm rot="0">
            <a:off x="1657800" y="3962656"/>
            <a:ext cx="14972400" cy="2119573"/>
            <a:chOff x="0" y="0"/>
            <a:chExt cx="19963200" cy="2826097"/>
          </a:xfrm>
        </p:grpSpPr>
        <p:sp>
          <p:nvSpPr>
            <p:cNvPr name="Freeform 11" id="11"/>
            <p:cNvSpPr/>
            <p:nvPr/>
          </p:nvSpPr>
          <p:spPr>
            <a:xfrm flipH="false" flipV="false" rot="0">
              <a:off x="0" y="0"/>
              <a:ext cx="19963200" cy="2826097"/>
            </a:xfrm>
            <a:custGeom>
              <a:avLst/>
              <a:gdLst/>
              <a:ahLst/>
              <a:cxnLst/>
              <a:rect r="r" b="b" t="t" l="l"/>
              <a:pathLst>
                <a:path h="2826097" w="19963200">
                  <a:moveTo>
                    <a:pt x="0" y="0"/>
                  </a:moveTo>
                  <a:lnTo>
                    <a:pt x="19963200" y="0"/>
                  </a:lnTo>
                  <a:lnTo>
                    <a:pt x="19963200" y="2826097"/>
                  </a:lnTo>
                  <a:lnTo>
                    <a:pt x="0" y="2826097"/>
                  </a:lnTo>
                  <a:close/>
                </a:path>
              </a:pathLst>
            </a:custGeom>
            <a:solidFill>
              <a:srgbClr val="000000">
                <a:alpha val="0"/>
              </a:srgbClr>
            </a:solidFill>
          </p:spPr>
        </p:sp>
        <p:sp>
          <p:nvSpPr>
            <p:cNvPr name="TextBox 12" id="12"/>
            <p:cNvSpPr txBox="true"/>
            <p:nvPr/>
          </p:nvSpPr>
          <p:spPr>
            <a:xfrm>
              <a:off x="0" y="-266700"/>
              <a:ext cx="19963200" cy="3092797"/>
            </a:xfrm>
            <a:prstGeom prst="rect">
              <a:avLst/>
            </a:prstGeom>
          </p:spPr>
          <p:txBody>
            <a:bodyPr anchor="b" rtlCol="false" tIns="0" lIns="0" bIns="0" rIns="0"/>
            <a:lstStyle/>
            <a:p>
              <a:pPr algn="ctr">
                <a:lnSpc>
                  <a:spcPts val="14976"/>
                </a:lnSpc>
              </a:pPr>
              <a:r>
                <a:rPr lang="en-US" sz="10400" b="true">
                  <a:solidFill>
                    <a:srgbClr val="FFFFFF"/>
                  </a:solidFill>
                  <a:latin typeface="Arimo Bold"/>
                  <a:ea typeface="Arimo Bold"/>
                  <a:cs typeface="Arimo Bold"/>
                  <a:sym typeface="Arimo Bold"/>
                </a:rPr>
                <a:t>Methodology</a:t>
              </a:r>
            </a:p>
          </p:txBody>
        </p:sp>
      </p:grpSp>
      <p:sp>
        <p:nvSpPr>
          <p:cNvPr name="Freeform 13" id="13"/>
          <p:cNvSpPr/>
          <p:nvPr/>
        </p:nvSpPr>
        <p:spPr>
          <a:xfrm flipH="false" flipV="false" rot="0">
            <a:off x="7579830" y="7818870"/>
            <a:ext cx="3128340" cy="738660"/>
          </a:xfrm>
          <a:custGeom>
            <a:avLst/>
            <a:gdLst/>
            <a:ahLst/>
            <a:cxnLst/>
            <a:rect r="r" b="b" t="t" l="l"/>
            <a:pathLst>
              <a:path h="738660" w="3128340">
                <a:moveTo>
                  <a:pt x="0" y="0"/>
                </a:moveTo>
                <a:lnTo>
                  <a:pt x="3128340" y="0"/>
                </a:lnTo>
                <a:lnTo>
                  <a:pt x="3128340" y="738660"/>
                </a:lnTo>
                <a:lnTo>
                  <a:pt x="0" y="738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4" id="14"/>
          <p:cNvSpPr/>
          <p:nvPr/>
        </p:nvSpPr>
        <p:spPr>
          <a:xfrm rot="4225941">
            <a:off x="14346203" y="7918755"/>
            <a:ext cx="917594" cy="0"/>
          </a:xfrm>
          <a:prstGeom prst="line">
            <a:avLst/>
          </a:prstGeom>
          <a:ln cap="rnd" w="28575">
            <a:solidFill>
              <a:srgbClr val="7E4FCF"/>
            </a:solidFill>
            <a:prstDash val="solid"/>
            <a:headEnd type="none" len="sm" w="sm"/>
            <a:tailEnd type="none" len="sm" w="sm"/>
          </a:ln>
        </p:spPr>
      </p:sp>
      <p:sp>
        <p:nvSpPr>
          <p:cNvPr name="AutoShape 15" id="15"/>
          <p:cNvSpPr/>
          <p:nvPr/>
        </p:nvSpPr>
        <p:spPr>
          <a:xfrm rot="-1140768">
            <a:off x="14636586" y="7388475"/>
            <a:ext cx="963228" cy="0"/>
          </a:xfrm>
          <a:prstGeom prst="line">
            <a:avLst/>
          </a:prstGeom>
          <a:ln cap="rnd" w="28575">
            <a:solidFill>
              <a:srgbClr val="7E4FCF"/>
            </a:solidFill>
            <a:prstDash val="solid"/>
            <a:headEnd type="none" len="sm" w="sm"/>
            <a:tailEnd type="none" len="sm" w="sm"/>
          </a:ln>
        </p:spPr>
      </p:sp>
      <p:sp>
        <p:nvSpPr>
          <p:cNvPr name="Freeform 16" id="16"/>
          <p:cNvSpPr/>
          <p:nvPr/>
        </p:nvSpPr>
        <p:spPr>
          <a:xfrm flipH="false" flipV="false" rot="0">
            <a:off x="2497308" y="120298"/>
            <a:ext cx="13293384" cy="10046404"/>
          </a:xfrm>
          <a:custGeom>
            <a:avLst/>
            <a:gdLst/>
            <a:ahLst/>
            <a:cxnLst/>
            <a:rect r="r" b="b" t="t" l="l"/>
            <a:pathLst>
              <a:path h="10046404" w="13293384">
                <a:moveTo>
                  <a:pt x="0" y="0"/>
                </a:moveTo>
                <a:lnTo>
                  <a:pt x="13293384" y="0"/>
                </a:lnTo>
                <a:lnTo>
                  <a:pt x="13293384" y="10046404"/>
                </a:lnTo>
                <a:lnTo>
                  <a:pt x="0" y="10046404"/>
                </a:lnTo>
                <a:lnTo>
                  <a:pt x="0" y="0"/>
                </a:lnTo>
                <a:close/>
              </a:path>
            </a:pathLst>
          </a:custGeom>
          <a:blipFill>
            <a:blip r:embed="rId6"/>
            <a:stretch>
              <a:fillRect l="0" t="0" r="0" b="0"/>
            </a:stretch>
          </a:blipFill>
          <a:ln w="38100" cap="sq">
            <a:solidFill>
              <a:srgbClr val="7E4FCF"/>
            </a:solidFill>
            <a:prstDash val="solid"/>
            <a:miter/>
          </a:ln>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218167" y="1028700"/>
            <a:ext cx="8792899" cy="3221161"/>
          </a:xfrm>
          <a:custGeom>
            <a:avLst/>
            <a:gdLst/>
            <a:ahLst/>
            <a:cxnLst/>
            <a:rect r="r" b="b" t="t" l="l"/>
            <a:pathLst>
              <a:path h="3221161" w="8792899">
                <a:moveTo>
                  <a:pt x="0" y="0"/>
                </a:moveTo>
                <a:lnTo>
                  <a:pt x="8792898" y="0"/>
                </a:lnTo>
                <a:lnTo>
                  <a:pt x="8792898" y="3221161"/>
                </a:lnTo>
                <a:lnTo>
                  <a:pt x="0" y="3221161"/>
                </a:lnTo>
                <a:lnTo>
                  <a:pt x="0" y="0"/>
                </a:lnTo>
                <a:close/>
              </a:path>
            </a:pathLst>
          </a:custGeom>
          <a:blipFill>
            <a:blip r:embed="rId4"/>
            <a:stretch>
              <a:fillRect l="0" t="0" r="0" b="0"/>
            </a:stretch>
          </a:blipFill>
          <a:ln w="38100" cap="sq">
            <a:solidFill>
              <a:srgbClr val="7E4FCF"/>
            </a:solidFill>
            <a:prstDash val="solid"/>
            <a:miter/>
          </a:ln>
        </p:spPr>
      </p:sp>
      <p:sp>
        <p:nvSpPr>
          <p:cNvPr name="Freeform 11" id="11"/>
          <p:cNvSpPr/>
          <p:nvPr/>
        </p:nvSpPr>
        <p:spPr>
          <a:xfrm flipH="false" flipV="false" rot="0">
            <a:off x="9144000" y="1005840"/>
            <a:ext cx="9016441" cy="3294810"/>
          </a:xfrm>
          <a:custGeom>
            <a:avLst/>
            <a:gdLst/>
            <a:ahLst/>
            <a:cxnLst/>
            <a:rect r="r" b="b" t="t" l="l"/>
            <a:pathLst>
              <a:path h="3294810" w="9016441">
                <a:moveTo>
                  <a:pt x="0" y="0"/>
                </a:moveTo>
                <a:lnTo>
                  <a:pt x="9016441" y="0"/>
                </a:lnTo>
                <a:lnTo>
                  <a:pt x="9016441" y="3294810"/>
                </a:lnTo>
                <a:lnTo>
                  <a:pt x="0" y="3294810"/>
                </a:lnTo>
                <a:lnTo>
                  <a:pt x="0" y="0"/>
                </a:lnTo>
                <a:close/>
              </a:path>
            </a:pathLst>
          </a:custGeom>
          <a:blipFill>
            <a:blip r:embed="rId5"/>
            <a:stretch>
              <a:fillRect l="0" t="0" r="0" b="0"/>
            </a:stretch>
          </a:blipFill>
          <a:ln w="38100" cap="sq">
            <a:solidFill>
              <a:srgbClr val="7E4FCF"/>
            </a:solidFill>
            <a:prstDash val="solid"/>
            <a:miter/>
          </a:ln>
        </p:spPr>
      </p:sp>
      <p:sp>
        <p:nvSpPr>
          <p:cNvPr name="Freeform 12" id="12"/>
          <p:cNvSpPr/>
          <p:nvPr/>
        </p:nvSpPr>
        <p:spPr>
          <a:xfrm flipH="false" flipV="false" rot="0">
            <a:off x="351101" y="6152807"/>
            <a:ext cx="8659964" cy="3358144"/>
          </a:xfrm>
          <a:custGeom>
            <a:avLst/>
            <a:gdLst/>
            <a:ahLst/>
            <a:cxnLst/>
            <a:rect r="r" b="b" t="t" l="l"/>
            <a:pathLst>
              <a:path h="3358144" w="8659964">
                <a:moveTo>
                  <a:pt x="0" y="0"/>
                </a:moveTo>
                <a:lnTo>
                  <a:pt x="8659964" y="0"/>
                </a:lnTo>
                <a:lnTo>
                  <a:pt x="8659964" y="3358144"/>
                </a:lnTo>
                <a:lnTo>
                  <a:pt x="0" y="3358144"/>
                </a:lnTo>
                <a:lnTo>
                  <a:pt x="0" y="0"/>
                </a:lnTo>
                <a:close/>
              </a:path>
            </a:pathLst>
          </a:custGeom>
          <a:blipFill>
            <a:blip r:embed="rId6"/>
            <a:stretch>
              <a:fillRect l="-3162" t="0" r="-1946" b="0"/>
            </a:stretch>
          </a:blipFill>
          <a:ln w="38100" cap="sq">
            <a:solidFill>
              <a:srgbClr val="7E4FCF"/>
            </a:solidFill>
            <a:prstDash val="solid"/>
            <a:miter/>
          </a:ln>
        </p:spPr>
      </p:sp>
      <p:sp>
        <p:nvSpPr>
          <p:cNvPr name="Freeform 13" id="13"/>
          <p:cNvSpPr/>
          <p:nvPr/>
        </p:nvSpPr>
        <p:spPr>
          <a:xfrm flipH="false" flipV="false" rot="0">
            <a:off x="9144000" y="6152807"/>
            <a:ext cx="9016441" cy="3336793"/>
          </a:xfrm>
          <a:custGeom>
            <a:avLst/>
            <a:gdLst/>
            <a:ahLst/>
            <a:cxnLst/>
            <a:rect r="r" b="b" t="t" l="l"/>
            <a:pathLst>
              <a:path h="3336793" w="9016441">
                <a:moveTo>
                  <a:pt x="0" y="0"/>
                </a:moveTo>
                <a:lnTo>
                  <a:pt x="9016441" y="0"/>
                </a:lnTo>
                <a:lnTo>
                  <a:pt x="9016441" y="3336793"/>
                </a:lnTo>
                <a:lnTo>
                  <a:pt x="0" y="3336793"/>
                </a:lnTo>
                <a:lnTo>
                  <a:pt x="0" y="0"/>
                </a:lnTo>
                <a:close/>
              </a:path>
            </a:pathLst>
          </a:custGeom>
          <a:blipFill>
            <a:blip r:embed="rId7"/>
            <a:stretch>
              <a:fillRect l="0" t="0" r="0" b="0"/>
            </a:stretch>
          </a:blipFill>
          <a:ln w="38100" cap="sq">
            <a:solidFill>
              <a:srgbClr val="7E4FCF"/>
            </a:solidFill>
            <a:prstDash val="solid"/>
            <a:miter/>
          </a:ln>
        </p:spPr>
      </p:sp>
      <p:sp>
        <p:nvSpPr>
          <p:cNvPr name="TextBox 14" id="14"/>
          <p:cNvSpPr txBox="true"/>
          <p:nvPr/>
        </p:nvSpPr>
        <p:spPr>
          <a:xfrm rot="0">
            <a:off x="2473572" y="116205"/>
            <a:ext cx="4415022" cy="683895"/>
          </a:xfrm>
          <a:prstGeom prst="rect">
            <a:avLst/>
          </a:prstGeom>
        </p:spPr>
        <p:txBody>
          <a:bodyPr anchor="t" rtlCol="false" tIns="0" lIns="0" bIns="0" rIns="0">
            <a:spAutoFit/>
          </a:bodyPr>
          <a:lstStyle/>
          <a:p>
            <a:pPr algn="ctr">
              <a:lnSpc>
                <a:spcPts val="5039"/>
              </a:lnSpc>
              <a:spcBef>
                <a:spcPct val="0"/>
              </a:spcBef>
            </a:pPr>
            <a:r>
              <a:rPr lang="en-US" b="true" sz="3499">
                <a:solidFill>
                  <a:srgbClr val="FFFFFF"/>
                </a:solidFill>
                <a:latin typeface="Calibri (MS) Bold"/>
                <a:ea typeface="Calibri (MS) Bold"/>
                <a:cs typeface="Calibri (MS) Bold"/>
                <a:sym typeface="Calibri (MS) Bold"/>
              </a:rPr>
              <a:t>L</a:t>
            </a:r>
            <a:r>
              <a:rPr lang="en-US" b="true" sz="3499">
                <a:solidFill>
                  <a:srgbClr val="FFFFFF"/>
                </a:solidFill>
                <a:latin typeface="Calibri (MS) Bold"/>
                <a:ea typeface="Calibri (MS) Bold"/>
                <a:cs typeface="Calibri (MS) Bold"/>
                <a:sym typeface="Calibri (MS) Bold"/>
              </a:rPr>
              <a:t>ightGBM</a:t>
            </a:r>
          </a:p>
        </p:txBody>
      </p:sp>
      <p:sp>
        <p:nvSpPr>
          <p:cNvPr name="TextBox 15" id="15"/>
          <p:cNvSpPr txBox="true"/>
          <p:nvPr/>
        </p:nvSpPr>
        <p:spPr>
          <a:xfrm rot="0">
            <a:off x="11444710" y="116205"/>
            <a:ext cx="4415022" cy="683895"/>
          </a:xfrm>
          <a:prstGeom prst="rect">
            <a:avLst/>
          </a:prstGeom>
        </p:spPr>
        <p:txBody>
          <a:bodyPr anchor="t" rtlCol="false" tIns="0" lIns="0" bIns="0" rIns="0">
            <a:spAutoFit/>
          </a:bodyPr>
          <a:lstStyle/>
          <a:p>
            <a:pPr algn="ctr">
              <a:lnSpc>
                <a:spcPts val="5039"/>
              </a:lnSpc>
              <a:spcBef>
                <a:spcPct val="0"/>
              </a:spcBef>
            </a:pPr>
            <a:r>
              <a:rPr lang="en-US" b="true" sz="3499">
                <a:solidFill>
                  <a:srgbClr val="FFFFFF"/>
                </a:solidFill>
                <a:latin typeface="Calibri (MS) Bold"/>
                <a:ea typeface="Calibri (MS) Bold"/>
                <a:cs typeface="Calibri (MS) Bold"/>
                <a:sym typeface="Calibri (MS) Bold"/>
              </a:rPr>
              <a:t>Decision Tree</a:t>
            </a:r>
          </a:p>
        </p:txBody>
      </p:sp>
      <p:sp>
        <p:nvSpPr>
          <p:cNvPr name="TextBox 16" id="16"/>
          <p:cNvSpPr txBox="true"/>
          <p:nvPr/>
        </p:nvSpPr>
        <p:spPr>
          <a:xfrm rot="0">
            <a:off x="2473572" y="5236518"/>
            <a:ext cx="4415022" cy="683895"/>
          </a:xfrm>
          <a:prstGeom prst="rect">
            <a:avLst/>
          </a:prstGeom>
        </p:spPr>
        <p:txBody>
          <a:bodyPr anchor="t" rtlCol="false" tIns="0" lIns="0" bIns="0" rIns="0">
            <a:spAutoFit/>
          </a:bodyPr>
          <a:lstStyle/>
          <a:p>
            <a:pPr algn="ctr">
              <a:lnSpc>
                <a:spcPts val="5039"/>
              </a:lnSpc>
              <a:spcBef>
                <a:spcPct val="0"/>
              </a:spcBef>
            </a:pPr>
            <a:r>
              <a:rPr lang="en-US" b="true" sz="3499">
                <a:solidFill>
                  <a:srgbClr val="FFFFFF"/>
                </a:solidFill>
                <a:latin typeface="Calibri (MS) Bold"/>
                <a:ea typeface="Calibri (MS) Bold"/>
                <a:cs typeface="Calibri (MS) Bold"/>
                <a:sym typeface="Calibri (MS) Bold"/>
              </a:rPr>
              <a:t>Logistic Regression</a:t>
            </a:r>
          </a:p>
        </p:txBody>
      </p:sp>
      <p:sp>
        <p:nvSpPr>
          <p:cNvPr name="TextBox 17" id="17"/>
          <p:cNvSpPr txBox="true"/>
          <p:nvPr/>
        </p:nvSpPr>
        <p:spPr>
          <a:xfrm rot="0">
            <a:off x="11444710" y="5236518"/>
            <a:ext cx="4415022" cy="683895"/>
          </a:xfrm>
          <a:prstGeom prst="rect">
            <a:avLst/>
          </a:prstGeom>
        </p:spPr>
        <p:txBody>
          <a:bodyPr anchor="t" rtlCol="false" tIns="0" lIns="0" bIns="0" rIns="0">
            <a:spAutoFit/>
          </a:bodyPr>
          <a:lstStyle/>
          <a:p>
            <a:pPr algn="ctr">
              <a:lnSpc>
                <a:spcPts val="5039"/>
              </a:lnSpc>
              <a:spcBef>
                <a:spcPct val="0"/>
              </a:spcBef>
            </a:pPr>
            <a:r>
              <a:rPr lang="en-US" b="true" sz="3499">
                <a:solidFill>
                  <a:srgbClr val="FFFFFF"/>
                </a:solidFill>
                <a:latin typeface="Calibri (MS) Bold"/>
                <a:ea typeface="Calibri (MS) Bold"/>
                <a:cs typeface="Calibri (MS) Bold"/>
                <a:sym typeface="Calibri (MS) Bold"/>
              </a:rPr>
              <a:t>Random Forest</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409200" y="0"/>
            <a:ext cx="5878080" cy="7837200"/>
            <a:chOff x="0" y="0"/>
            <a:chExt cx="7837440" cy="10449600"/>
          </a:xfrm>
        </p:grpSpPr>
        <p:sp>
          <p:nvSpPr>
            <p:cNvPr name="Freeform 3" id="3"/>
            <p:cNvSpPr/>
            <p:nvPr/>
          </p:nvSpPr>
          <p:spPr>
            <a:xfrm flipH="false" flipV="false" rot="0">
              <a:off x="0" y="0"/>
              <a:ext cx="7837424" cy="10449560"/>
            </a:xfrm>
            <a:custGeom>
              <a:avLst/>
              <a:gdLst/>
              <a:ahLst/>
              <a:cxnLst/>
              <a:rect r="r" b="b" t="t" l="l"/>
              <a:pathLst>
                <a:path h="10449560" w="7837424">
                  <a:moveTo>
                    <a:pt x="0" y="0"/>
                  </a:moveTo>
                  <a:lnTo>
                    <a:pt x="7837424" y="0"/>
                  </a:lnTo>
                  <a:lnTo>
                    <a:pt x="7837424" y="10449560"/>
                  </a:lnTo>
                  <a:lnTo>
                    <a:pt x="0" y="10449560"/>
                  </a:lnTo>
                  <a:lnTo>
                    <a:pt x="0" y="0"/>
                  </a:lnTo>
                  <a:close/>
                </a:path>
              </a:pathLst>
            </a:custGeom>
            <a:blipFill>
              <a:blip r:embed="rId2"/>
              <a:stretch>
                <a:fillRect l="-5905" t="-44073" r="-319291" b="-22821"/>
              </a:stretch>
            </a:blipFill>
          </p:spPr>
        </p:sp>
      </p:grpSp>
      <p:grpSp>
        <p:nvGrpSpPr>
          <p:cNvPr name="Group 4" id="4"/>
          <p:cNvGrpSpPr>
            <a:grpSpLocks noChangeAspect="true"/>
          </p:cNvGrpSpPr>
          <p:nvPr/>
        </p:nvGrpSpPr>
        <p:grpSpPr>
          <a:xfrm rot="0">
            <a:off x="8314560" y="0"/>
            <a:ext cx="9972720" cy="4567680"/>
            <a:chOff x="0" y="0"/>
            <a:chExt cx="13296960" cy="6090240"/>
          </a:xfrm>
        </p:grpSpPr>
        <p:sp>
          <p:nvSpPr>
            <p:cNvPr name="Freeform 5" id="5"/>
            <p:cNvSpPr/>
            <p:nvPr/>
          </p:nvSpPr>
          <p:spPr>
            <a:xfrm flipH="false" flipV="false" rot="0">
              <a:off x="0" y="0"/>
              <a:ext cx="13296900" cy="6090285"/>
            </a:xfrm>
            <a:custGeom>
              <a:avLst/>
              <a:gdLst/>
              <a:ahLst/>
              <a:cxnLst/>
              <a:rect r="r" b="b" t="t" l="l"/>
              <a:pathLst>
                <a:path h="6090285" w="13296900">
                  <a:moveTo>
                    <a:pt x="0" y="0"/>
                  </a:moveTo>
                  <a:lnTo>
                    <a:pt x="13296900" y="0"/>
                  </a:lnTo>
                  <a:lnTo>
                    <a:pt x="13296900" y="6090285"/>
                  </a:lnTo>
                  <a:lnTo>
                    <a:pt x="0" y="6090285"/>
                  </a:lnTo>
                  <a:lnTo>
                    <a:pt x="0" y="0"/>
                  </a:lnTo>
                  <a:close/>
                </a:path>
              </a:pathLst>
            </a:custGeom>
            <a:blipFill>
              <a:blip r:embed="rId3"/>
              <a:stretch>
                <a:fillRect l="-45775" t="-136536" r="-70563" b="-10650"/>
              </a:stretch>
            </a:blipFill>
          </p:spPr>
        </p:sp>
      </p:grpSp>
      <p:grpSp>
        <p:nvGrpSpPr>
          <p:cNvPr name="Group 6" id="6"/>
          <p:cNvGrpSpPr>
            <a:grpSpLocks noChangeAspect="true"/>
          </p:cNvGrpSpPr>
          <p:nvPr/>
        </p:nvGrpSpPr>
        <p:grpSpPr>
          <a:xfrm rot="0">
            <a:off x="0" y="5618880"/>
            <a:ext cx="8875440" cy="4667040"/>
            <a:chOff x="0" y="0"/>
            <a:chExt cx="11833920" cy="6222720"/>
          </a:xfrm>
        </p:grpSpPr>
        <p:sp>
          <p:nvSpPr>
            <p:cNvPr name="Freeform 7" id="7"/>
            <p:cNvSpPr/>
            <p:nvPr/>
          </p:nvSpPr>
          <p:spPr>
            <a:xfrm flipH="false" flipV="false" rot="0">
              <a:off x="0" y="0"/>
              <a:ext cx="11833860" cy="6222746"/>
            </a:xfrm>
            <a:custGeom>
              <a:avLst/>
              <a:gdLst/>
              <a:ahLst/>
              <a:cxnLst/>
              <a:rect r="r" b="b" t="t" l="l"/>
              <a:pathLst>
                <a:path h="6222746" w="11833860">
                  <a:moveTo>
                    <a:pt x="0" y="0"/>
                  </a:moveTo>
                  <a:lnTo>
                    <a:pt x="11833860" y="0"/>
                  </a:lnTo>
                  <a:lnTo>
                    <a:pt x="11833860" y="6222746"/>
                  </a:lnTo>
                  <a:lnTo>
                    <a:pt x="0" y="6222746"/>
                  </a:lnTo>
                  <a:lnTo>
                    <a:pt x="0" y="0"/>
                  </a:lnTo>
                  <a:close/>
                </a:path>
              </a:pathLst>
            </a:custGeom>
            <a:blipFill>
              <a:blip r:embed="rId3"/>
              <a:stretch>
                <a:fillRect l="-81725" t="-11875" r="-49334" b="-118082"/>
              </a:stretch>
            </a:blipFill>
          </p:spPr>
        </p:sp>
      </p:grpSp>
      <p:grpSp>
        <p:nvGrpSpPr>
          <p:cNvPr name="Group 8" id="8"/>
          <p:cNvGrpSpPr>
            <a:grpSpLocks noChangeAspect="true"/>
          </p:cNvGrpSpPr>
          <p:nvPr/>
        </p:nvGrpSpPr>
        <p:grpSpPr>
          <a:xfrm rot="-10800000">
            <a:off x="720" y="2036160"/>
            <a:ext cx="5878080" cy="8331840"/>
            <a:chOff x="0" y="0"/>
            <a:chExt cx="7837440" cy="11109120"/>
          </a:xfrm>
        </p:grpSpPr>
        <p:sp>
          <p:nvSpPr>
            <p:cNvPr name="Freeform 9" id="9"/>
            <p:cNvSpPr/>
            <p:nvPr/>
          </p:nvSpPr>
          <p:spPr>
            <a:xfrm flipH="false" flipV="false" rot="0">
              <a:off x="0" y="0"/>
              <a:ext cx="7837424" cy="11109071"/>
            </a:xfrm>
            <a:custGeom>
              <a:avLst/>
              <a:gdLst/>
              <a:ahLst/>
              <a:cxnLst/>
              <a:rect r="r" b="b" t="t" l="l"/>
              <a:pathLst>
                <a:path h="11109071" w="7837424">
                  <a:moveTo>
                    <a:pt x="0" y="0"/>
                  </a:moveTo>
                  <a:lnTo>
                    <a:pt x="7837424" y="0"/>
                  </a:lnTo>
                  <a:lnTo>
                    <a:pt x="7837424" y="11109071"/>
                  </a:lnTo>
                  <a:lnTo>
                    <a:pt x="0" y="11109071"/>
                  </a:lnTo>
                  <a:lnTo>
                    <a:pt x="0" y="0"/>
                  </a:lnTo>
                  <a:close/>
                </a:path>
              </a:pathLst>
            </a:custGeom>
            <a:blipFill>
              <a:blip r:embed="rId2"/>
              <a:stretch>
                <a:fillRect l="0" t="-33383" r="-318843" b="-21257"/>
              </a:stretch>
            </a:blipFill>
          </p:spPr>
        </p:sp>
      </p:grpSp>
      <p:sp>
        <p:nvSpPr>
          <p:cNvPr name="Freeform 10" id="10"/>
          <p:cNvSpPr/>
          <p:nvPr/>
        </p:nvSpPr>
        <p:spPr>
          <a:xfrm flipH="false" flipV="false" rot="0">
            <a:off x="819771" y="2623312"/>
            <a:ext cx="16648458" cy="5040376"/>
          </a:xfrm>
          <a:custGeom>
            <a:avLst/>
            <a:gdLst/>
            <a:ahLst/>
            <a:cxnLst/>
            <a:rect r="r" b="b" t="t" l="l"/>
            <a:pathLst>
              <a:path h="5040376" w="16648458">
                <a:moveTo>
                  <a:pt x="0" y="0"/>
                </a:moveTo>
                <a:lnTo>
                  <a:pt x="16648458" y="0"/>
                </a:lnTo>
                <a:lnTo>
                  <a:pt x="16648458" y="5040376"/>
                </a:lnTo>
                <a:lnTo>
                  <a:pt x="0" y="5040376"/>
                </a:lnTo>
                <a:lnTo>
                  <a:pt x="0" y="0"/>
                </a:lnTo>
                <a:close/>
              </a:path>
            </a:pathLst>
          </a:custGeom>
          <a:blipFill>
            <a:blip r:embed="rId4"/>
            <a:stretch>
              <a:fillRect l="-491" t="0" r="0" b="0"/>
            </a:stretch>
          </a:blipFill>
          <a:ln w="38100" cap="sq">
            <a:solidFill>
              <a:srgbClr val="7E4FCF"/>
            </a:solidFill>
            <a:prstDash val="solid"/>
            <a:miter/>
          </a:ln>
        </p:spPr>
      </p:sp>
      <p:grpSp>
        <p:nvGrpSpPr>
          <p:cNvPr name="Group 11" id="11"/>
          <p:cNvGrpSpPr/>
          <p:nvPr/>
        </p:nvGrpSpPr>
        <p:grpSpPr>
          <a:xfrm rot="0">
            <a:off x="6611659" y="1636563"/>
            <a:ext cx="4527562" cy="799193"/>
            <a:chOff x="0" y="0"/>
            <a:chExt cx="16448544" cy="2903453"/>
          </a:xfrm>
        </p:grpSpPr>
        <p:sp>
          <p:nvSpPr>
            <p:cNvPr name="Freeform 12" id="12"/>
            <p:cNvSpPr/>
            <p:nvPr/>
          </p:nvSpPr>
          <p:spPr>
            <a:xfrm flipH="false" flipV="false" rot="0">
              <a:off x="0" y="0"/>
              <a:ext cx="16448545" cy="2903453"/>
            </a:xfrm>
            <a:custGeom>
              <a:avLst/>
              <a:gdLst/>
              <a:ahLst/>
              <a:cxnLst/>
              <a:rect r="r" b="b" t="t" l="l"/>
              <a:pathLst>
                <a:path h="2903453" w="16448545">
                  <a:moveTo>
                    <a:pt x="0" y="0"/>
                  </a:moveTo>
                  <a:lnTo>
                    <a:pt x="16448545" y="0"/>
                  </a:lnTo>
                  <a:lnTo>
                    <a:pt x="16448545" y="2903453"/>
                  </a:lnTo>
                  <a:lnTo>
                    <a:pt x="0" y="2903453"/>
                  </a:lnTo>
                  <a:close/>
                </a:path>
              </a:pathLst>
            </a:custGeom>
            <a:solidFill>
              <a:srgbClr val="000000">
                <a:alpha val="0"/>
              </a:srgbClr>
            </a:solidFill>
          </p:spPr>
        </p:sp>
        <p:sp>
          <p:nvSpPr>
            <p:cNvPr name="TextBox 13" id="13"/>
            <p:cNvSpPr txBox="true"/>
            <p:nvPr/>
          </p:nvSpPr>
          <p:spPr>
            <a:xfrm>
              <a:off x="0" y="-161925"/>
              <a:ext cx="16448544" cy="3065378"/>
            </a:xfrm>
            <a:prstGeom prst="rect">
              <a:avLst/>
            </a:prstGeom>
          </p:spPr>
          <p:txBody>
            <a:bodyPr anchor="b" rtlCol="false" tIns="0" lIns="0" bIns="0" rIns="0"/>
            <a:lstStyle/>
            <a:p>
              <a:pPr algn="ctr">
                <a:lnSpc>
                  <a:spcPts val="5761"/>
                </a:lnSpc>
              </a:pPr>
              <a:r>
                <a:rPr lang="en-US" sz="4000" b="true">
                  <a:solidFill>
                    <a:srgbClr val="FFFFFF"/>
                  </a:solidFill>
                  <a:latin typeface="Calibri (MS) Bold"/>
                  <a:ea typeface="Calibri (MS) Bold"/>
                  <a:cs typeface="Calibri (MS) Bold"/>
                  <a:sym typeface="Calibri (MS) Bold"/>
                </a:rPr>
                <a:t> METRICS TABLE </a:t>
              </a: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DAGylQzeFRo</dc:identifier>
  <dcterms:modified xsi:type="dcterms:W3CDTF">2011-08-01T06:04:30Z</dcterms:modified>
  <cp:revision>1</cp:revision>
  <dc:title>Telco Churn (1).pptx</dc:title>
</cp:coreProperties>
</file>